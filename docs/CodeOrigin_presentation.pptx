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Calibri"/>
              </a:defRPr>
            </a:pPr>
            <a:r>
              <a:rPr sz="1400" b="0" i="0" u="none" strike="noStrike">
                <a:solidFill>
                  <a:srgbClr val="1D1D1F"/>
                </a:solidFill>
                <a:latin typeface="Calibri"/>
              </a:rPr>
              <a:t>Overall correctness by mode (%)</a:t>
            </a:r>
          </a:p>
        </c:rich>
      </c:tx>
      <c:layout/>
      <c:overlay val="0"/>
    </c:title>
    <c:autoTitleDeleted val="0"/>
    <c:plotArea>
      <c:layout/>
      <c:barChart>
        <c:barDir val="col"/>
        <c:grouping val="clustered"/>
        <c:varyColors val="0"/>
        <c:ser>
          <c:idx val="0"/>
          <c:order val="0"/>
          <c:tx>
            <c:strRef>
              <c:f>Sheet1!$B$1</c:f>
              <c:strCache>
                <c:ptCount val="1"/>
                <c:pt idx="0">
                  <c:v>llama2</c:v>
                </c:pt>
              </c:strCache>
            </c:strRef>
          </c:tx>
          <c:spPr>
            <a:solidFill>
              <a:srgbClr val="0071E3"/>
            </a:solidFill>
            <a:effectLst/>
          </c:spPr>
          <c:invertIfNegative val="0"/>
          <c:dLbls>
            <c:numFmt formatCode="#,##0" sourceLinked="0"/>
            <c:txPr>
              <a:bodyPr/>
              <a:lstStyle/>
              <a:p>
                <a:pPr>
                  <a:defRPr b="0" i="0" strike="noStrike" sz="11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no_context</c:v>
                  </c:pt>
                  <c:pt idx="1">
                    <c:v>code_only</c:v>
                  </c:pt>
                  <c:pt idx="2">
                    <c:v>code_history</c:v>
                  </c:pt>
                </c:lvl>
              </c:multiLvlStrCache>
            </c:multiLvlStrRef>
          </c:cat>
          <c:val>
            <c:numRef>
              <c:f>Sheet1!$B$2:$B$4</c:f>
              <c:numCache>
                <c:formatCode>General</c:formatCode>
                <c:ptCount val="3"/>
                <c:pt idx="0">
                  <c:v>20</c:v>
                </c:pt>
                <c:pt idx="1">
                  <c:v>54</c:v>
                </c:pt>
                <c:pt idx="2">
                  <c:v>82</c:v>
                </c:pt>
              </c:numCache>
            </c:numRef>
          </c:val>
        </c:ser>
        <c:ser>
          <c:idx val="1"/>
          <c:order val="1"/>
          <c:tx>
            <c:strRef>
              <c:f>Sheet1!$C$1</c:f>
              <c:strCache>
                <c:ptCount val="1"/>
                <c:pt idx="0">
                  <c:v>codellama:7b</c:v>
                </c:pt>
              </c:strCache>
            </c:strRef>
          </c:tx>
          <c:spPr>
            <a:solidFill>
              <a:srgbClr val="5AA9F0"/>
            </a:solidFill>
            <a:effectLst/>
          </c:spPr>
          <c:invertIfNegative val="0"/>
          <c:dLbls>
            <c:numFmt formatCode="#,##0" sourceLinked="0"/>
            <c:txPr>
              <a:bodyPr/>
              <a:lstStyle/>
              <a:p>
                <a:pPr>
                  <a:defRPr b="0" i="0" strike="noStrike" sz="11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no_context</c:v>
                  </c:pt>
                  <c:pt idx="1">
                    <c:v>code_only</c:v>
                  </c:pt>
                  <c:pt idx="2">
                    <c:v>code_history</c:v>
                  </c:pt>
                </c:lvl>
              </c:multiLvlStrCache>
            </c:multiLvlStrRef>
          </c:cat>
          <c:val>
            <c:numRef>
              <c:f>Sheet1!$C$2:$C$4</c:f>
              <c:numCache>
                <c:formatCode>General</c:formatCode>
                <c:ptCount val="3"/>
                <c:pt idx="0">
                  <c:v>13</c:v>
                </c:pt>
                <c:pt idx="1">
                  <c:v>49</c:v>
                </c:pt>
                <c:pt idx="2">
                  <c:v>68</c:v>
                </c:pt>
              </c:numCache>
            </c:numRef>
          </c:val>
        </c:ser>
        <c:ser>
          <c:idx val="2"/>
          <c:order val="2"/>
          <c:tx>
            <c:strRef>
              <c:f>Sheet1!$D$1</c:f>
              <c:strCache>
                <c:ptCount val="1"/>
                <c:pt idx="0">
                  <c:v>starcoder2:3b</c:v>
                </c:pt>
              </c:strCache>
            </c:strRef>
          </c:tx>
          <c:spPr>
            <a:solidFill>
              <a:srgbClr val="9AA0A6"/>
            </a:solidFill>
            <a:effectLst/>
          </c:spPr>
          <c:invertIfNegative val="0"/>
          <c:dLbls>
            <c:numFmt formatCode="#,##0" sourceLinked="0"/>
            <c:txPr>
              <a:bodyPr/>
              <a:lstStyle/>
              <a:p>
                <a:pPr>
                  <a:defRPr b="0" i="0" strike="noStrike" sz="11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no_context</c:v>
                  </c:pt>
                  <c:pt idx="1">
                    <c:v>code_only</c:v>
                  </c:pt>
                  <c:pt idx="2">
                    <c:v>code_history</c:v>
                  </c:pt>
                </c:lvl>
              </c:multiLvlStrCache>
            </c:multiLvlStrRef>
          </c:cat>
          <c:val>
            <c:numRef>
              <c:f>Sheet1!$D$2:$D$4</c:f>
              <c:numCache>
                <c:formatCode>General</c:formatCode>
                <c:ptCount val="3"/>
                <c:pt idx="0">
                  <c:v>14</c:v>
                </c:pt>
                <c:pt idx="1">
                  <c:v>29</c:v>
                </c:pt>
                <c:pt idx="2">
                  <c:v>24</c:v>
                </c:pt>
              </c:numCache>
            </c:numRef>
          </c:val>
        </c:ser>
        <c:dLbls>
          <c:numFmt formatCode="#,##0" sourceLinked="0"/>
          <c:txPr>
            <a:bodyPr/>
            <a:lstStyle/>
            <a:p>
              <a:pPr>
                <a:defRPr b="0" i="0" strike="noStrike" sz="1100" u="none">
                  <a:solidFill>
                    <a:srgbClr val="1D1D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55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D1D1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CodeOrigin answers "why was this built this way?" from a repository's code plus its history, with citations, and refuses when the history does not say. The research question: does adding repository history to an LLM-RAG pipeline improve answers? It is also a DevOps project: 7 containers, CI,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assistants see only current code, so a "why" question becomes a guess. CodeOrigin indexes commits, diffs, issues, PRs and reviews, links them (issue to PR to commit), and cites each claim, for example commit:69e7bbd. If the history is silent it says so instead of inventing 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modes, same questions. no_context shows what the model guesses. code_only is the realistic baseline. code_history is the treatment. oracle hands over the gold evidence with no retrieval, so it separates retrieval failure from model failure. Everything else is fixed: same prompt shape, same 6000-character context budget, temperature 0, seed 42. The decision rule was written before 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The demo repository (43 questions) was used to build and tune. The held-out set is the real pallets/itsdangerous repository: 35 questions, 677 commits, 125 issues, 311 PRs, written by other people. The held-out dataset hash b68e5bd36697c3ba was committed before the run. Correctness is the fraction of key facts found in the answer, and for questions that should be refused, 1 if the system refused. Statistics: bootstrap 95% intervals, paired sign-flip permutation test, Cohen's d_z.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to gateway to ingest, orchestrator and eval services, which use the RAG service (vector plus BM25 with rank fusion), ChromaDB, and the LLM service talking to Ollama on the host. Shared code lives in one place and is copied into services; CI fails on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steps. G10 refuses unsafe requests, G8 isolates the repository, G1 refuses off-topic with no model call, G2 says the history does not say, then links are followed, context is built with commit text treated as untrusted data (G5), the model generates, G3 strips invented citations, G4 flags unsupported sentences, and G6 redacts secrets. One honest finding from evaluation: G2 did not fire for on-topic unanswerable questions on a real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multi-stage non-root images with health checks, Docker Compose with dev, prod, monitoring and demo overrides, GitHub Actions CI with 11 jobs, gitleaks and Trivy security scans, a release workflow that publishes to GHCR on a version tag, and optional Prometheus, Grafana and Loki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pipeline for real found real problems: a HIGH-severity vulnerability in a frontend dependency, Dockerfiles that ran as root, a linter version drift, and a wrong script call in the smoke test. All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continuous integration: on every push GitHub Actions builds the project and runs all checks automatically; a red run means the change broke something. CD, continuous delivery: when a version tag is pushed the release workflow builds, scans and publishes the 7 container images to GHCR and creates a release. CD is configured but has not run yet because no tag was pushed; say so. Run history: 22 runs on the Code_Origin repository, 14 CI passes, 1 failure (lint errors in a new script, fixed in the next commit), 6 cancelled because a newer push superseded them, 1 nightly evaluation run that passed. A CI run takes about 3 minutes and has 11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scrapes the gateway every 15 seconds and the evaluation service every 30 seconds, stores the time series for 15 days, and evaluates three alert rules. The gateway exports requests by route and status, a request-time histogram, guardrail triggers, LLM tokens and refusals. The evaluation service computes its numbers from stored runs at scrape time: correctness, history effect with its interval, verdict, failure taxonomy, jury score, run progress, and the quality and cost metrics. Grafana queries Prometheus (and Loki for logs). Alerts: GatewayDown, HighErrorRate over 5 percent, SlowAsk p95 over 60 seconds; all healthy, none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findings. Evaluation (run 8): correctness rises from no context to code only to code with history for both 7B models; history effect plus 0.319 and plus 0.278, minus 0.021 for starcoder2; retrieval misses dominate code-only answers and fall with history; the gemma jury scored everything near 100 percent so it is not used. Quality and cost: hallucination 31, 22 and 59 percent; recall 0.14, 0.70, 1.00; mean latency 12.0, 14.5 and 2.3 seconds. Live metrics from five demo questions: all succeeded, p95 ask latency about 26 seconds, guardrails G1, G10 and G4 fired, no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8, the held-out run. Left: overall correctness per model and mode; the oracle bars are the ceiling. Right: the history effect, plus 0.319 for llama2, plus 0.278 for codellama, minus 0.021 for starcoder2.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llama2 31.2, codellama 21.9, starcoder2 59.4 percent. Retrieval: recall rises from 14 percent with code only to 70 percent with code and history to 100 percent with the oracle. Latency: starcoder2 is fastest at about 2.3 seconds but least reliable; the 7B models take 12 to 16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written per answer: 126 for llama2, 173 for codellama, 147 for starcoder2. Unsupported-sentence ratio: 27.1, 26.1 and 36.7 percent. Refusal correctness is lowest with no context, because the model then answers questions it should refuse, and highest with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panels while five real questions were asked through the Ask API: p95 latency of the ask route about 26 seconds, guardrails G4, G1 and G10 fired, LLM tokens 6,635 in and 554 out for three answers, refusals off-topic and unsafe request, no 5xx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correctness (all categories pooled) rises from no_context to code_only to code_history for both 7B models. The pre-registered test is the paired difference code_history minus code_only on the 24 history questions: llama2 +0.32, codellama +0.28, both with intervals excluding 0, so history is useful for them. starcoder2:3b shows no effect. Honest reading: automatic scoring, small samples, one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three rows are the held-out real repository. History effect is code_history minus code_only on the history questions, with a 95% bootstrap interval. It holds on a real repository: both 7B models pass the pre-registered rule, an independent LLM judge (DeepSeek) confirms it (+0.35 for both), and excluding two items an independent review flagged leaves the conclusions unchanged. starcoder2:3b gets no benefit on either repository: even with the gold evidence it mostly invents. One caution: on the 4 code-only control questions the judge hints history can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maps to a question category on the real repository. Numbers are correctness in the RAG mode (code_history), automatic score then DeepSeek judge in brackets. With 2 to 10 questions per task a gap under 0.10 is a tie. Explanation, bug analysis and dependency links: llama2 and codellama tie, starcoder2 far behind. Code retrieval: codellama leads (4 questions). RAG overall: llama2 and codellama tie on accuracy; llama2 is faster at the median, codellama hallucinated less. Code generation and refactoring were not evaluated because the system answers questions and does not write code, so there is also no test-pass rate; do not invent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failure was found in real output and traced to a cause. (1) Retrieval missed an unusual phrasing: for "why was 1.0.0 removed from PyPI" it fetched unrelated issues and both models invented a reason. (2) History can distract on code-only questions: llama2 said the key derivation is hmac and cited an unrelated commit. (3) The refusal gate G2 did not fire for on-topic unanswerable questions; codellama invented a customer name. (4) Models rarely cite the gold source. (5) The automatic score is generous: DeepSeek rated 42 of 143 full-credit answers as only partly right or wrong; agreement kappa 0.75. Human check: I graded 18 factual rows by hand and agreed 18 of 18; the 16 technical rows are LLM-judged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website. Show: Ask (a real question with citations, the evidence chain and the guardrail trace), Repositories (the indexed repos), Evaluation (the held-out run and the which-model-for-what panel), and the slides. Suggested demo question on itsdangerous: "Why does itsdangerous keep SHA-1 as its default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the research question, the four modes and why oracle exists, the decision rule, why starcoder2 is inconclusive (it cannot use evidence even when given it), what went wrong (retrieval misses, refusal gate, history distracting on code questions), and what is not validated (human grading covers factual rows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548640" y="6419088"/>
            <a:ext cx="2743200" cy="274320"/>
          </a:xfrm>
          <a:prstGeom prst="rect">
            <a:avLst/>
          </a:prstGeom>
          <a:noFill/>
          <a:ln/>
        </p:spPr>
        <p:txBody>
          <a:bodyPr wrap="square" lIns="0" tIns="0" rIns="0" bIns="0" rtlCol="0" anchor="ctr"/>
          <a:lstStyle/>
          <a:p>
            <a:pPr indent="0" marL="0">
              <a:buNone/>
            </a:pPr>
            <a:r>
              <a:rPr lang="en-US" sz="1100" b="1" dirty="0">
                <a:solidFill>
                  <a:srgbClr val="55555B"/>
                </a:solidFill>
                <a:latin typeface="Calibri" pitchFamily="34" charset="0"/>
                <a:ea typeface="Calibri" pitchFamily="34" charset="-122"/>
                <a:cs typeface="Calibri" pitchFamily="34" charset="-120"/>
              </a:rPr>
              <a:t>CodeOrigin</a:t>
            </a:r>
            <a:endParaRPr lang="en-US" sz="11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365760"/>
          </a:xfrm>
          <a:prstGeom prst="rect">
            <a:avLst/>
          </a:prstGeom>
          <a:noFill/>
          <a:ln/>
        </p:spPr>
        <p:txBody>
          <a:bodyPr wrap="square" lIns="0" tIns="0" rIns="0" bIns="0" rtlCol="0" anchor="ctr"/>
          <a:lstStyle/>
          <a:p>
            <a:pPr indent="0" marL="0">
              <a:buNone/>
            </a:pPr>
            <a:r>
              <a:rPr lang="en-US" sz="1400" b="1" spc="300" kern="0" dirty="0">
                <a:solidFill>
                  <a:srgbClr val="0071E3"/>
                </a:solidFill>
              </a:rPr>
              <a:t>COLLEGE DEVOPS PROJECT</a:t>
            </a:r>
            <a:endParaRPr lang="en-US" sz="1400" dirty="0"/>
          </a:p>
        </p:txBody>
      </p:sp>
      <p:sp>
        <p:nvSpPr>
          <p:cNvPr id="3" name="Text 1"/>
          <p:cNvSpPr txBox="1"/>
          <p:nvPr/>
        </p:nvSpPr>
        <p:spPr>
          <a:xfrm>
            <a:off x="548640" y="1828800"/>
            <a:ext cx="11091672" cy="1280160"/>
          </a:xfrm>
          <a:prstGeom prst="rect">
            <a:avLst/>
          </a:prstGeom>
          <a:noFill/>
          <a:ln/>
        </p:spPr>
        <p:txBody>
          <a:bodyPr wrap="square" lIns="0" tIns="0" rIns="0" bIns="0" rtlCol="0" anchor="ctr"/>
          <a:lstStyle/>
          <a:p>
            <a:pPr indent="0" marL="0">
              <a:buNone/>
            </a:pPr>
            <a:r>
              <a:rPr lang="en-US" sz="7200" b="1" dirty="0">
                <a:solidFill>
                  <a:srgbClr val="1D1D1F"/>
                </a:solidFill>
              </a:rPr>
              <a:t>CodeOrigin</a:t>
            </a:r>
            <a:endParaRPr lang="en-US" sz="7200" dirty="0"/>
          </a:p>
        </p:txBody>
      </p:sp>
      <p:sp>
        <p:nvSpPr>
          <p:cNvPr id="4" name="Text 2"/>
          <p:cNvSpPr txBox="1"/>
          <p:nvPr/>
        </p:nvSpPr>
        <p:spPr>
          <a:xfrm>
            <a:off x="548640" y="3200400"/>
            <a:ext cx="9601200" cy="914400"/>
          </a:xfrm>
          <a:prstGeom prst="rect">
            <a:avLst/>
          </a:prstGeom>
          <a:noFill/>
          <a:ln/>
        </p:spPr>
        <p:txBody>
          <a:bodyPr wrap="square" lIns="0" tIns="0" rIns="0" bIns="0" rtlCol="0" anchor="t"/>
          <a:lstStyle/>
          <a:p>
            <a:pPr indent="0" marL="0">
              <a:buNone/>
            </a:pPr>
            <a:r>
              <a:rPr lang="en-US" sz="2600" dirty="0">
                <a:solidFill>
                  <a:srgbClr val="1D1D1F"/>
                </a:solidFill>
              </a:rPr>
              <a:t>Ask a codebase why it was built this way, and get an answer grounded in its own history.</a:t>
            </a:r>
            <a:endParaRPr lang="en-US" sz="2600" dirty="0"/>
          </a:p>
        </p:txBody>
      </p:sp>
      <p:sp>
        <p:nvSpPr>
          <p:cNvPr id="5" name="Text 3"/>
          <p:cNvSpPr txBox="1"/>
          <p:nvPr/>
        </p:nvSpPr>
        <p:spPr>
          <a:xfrm>
            <a:off x="548640" y="4297680"/>
            <a:ext cx="9601200" cy="640080"/>
          </a:xfrm>
          <a:prstGeom prst="rect">
            <a:avLst/>
          </a:prstGeom>
          <a:noFill/>
          <a:ln/>
        </p:spPr>
        <p:txBody>
          <a:bodyPr wrap="square" lIns="0" tIns="0" rIns="0" bIns="0" rtlCol="0" anchor="t"/>
          <a:lstStyle/>
          <a:p>
            <a:pPr indent="0" marL="0">
              <a:buNone/>
            </a:pPr>
            <a:r>
              <a:rPr lang="en-US" sz="1600" dirty="0">
                <a:solidFill>
                  <a:srgbClr val="55555B"/>
                </a:solidFill>
              </a:rPr>
              <a:t>A repository-aware RAG system, packaged and delivered as a containerised, tested, monitored DevOps pipeline.</a:t>
            </a:r>
            <a:endParaRPr lang="en-US" sz="16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THE PROBLEM</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Code can’t explain itself</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The current code shows what exists. The reason lives in the history around it.</a:t>
            </a:r>
            <a:endParaRPr lang="en-US" sz="1600" dirty="0"/>
          </a:p>
        </p:txBody>
      </p:sp>
      <p:sp>
        <p:nvSpPr>
          <p:cNvPr id="6" name="Shape 3"/>
          <p:cNvSpPr/>
          <p:nvPr/>
        </p:nvSpPr>
        <p:spPr>
          <a:xfrm>
            <a:off x="640080" y="2148840"/>
            <a:ext cx="1874520" cy="914400"/>
          </a:xfrm>
          <a:prstGeom prst="roundRect">
            <a:avLst>
              <a:gd name="adj" fmla="val 10000"/>
            </a:avLst>
          </a:prstGeom>
          <a:solidFill>
            <a:srgbClr val="E6F0FC"/>
          </a:solidFill>
          <a:ln w="12700">
            <a:solidFill>
              <a:srgbClr val="0071E3"/>
            </a:solidFill>
            <a:prstDash val="solid"/>
          </a:ln>
        </p:spPr>
      </p:sp>
      <p:sp>
        <p:nvSpPr>
          <p:cNvPr id="7" name="Text 4"/>
          <p:cNvSpPr txBox="1"/>
          <p:nvPr/>
        </p:nvSpPr>
        <p:spPr>
          <a:xfrm>
            <a:off x="640080" y="2148840"/>
            <a:ext cx="1874520" cy="914400"/>
          </a:xfrm>
          <a:prstGeom prst="rect">
            <a:avLst/>
          </a:prstGeom>
          <a:noFill/>
          <a:ln/>
        </p:spPr>
        <p:txBody>
          <a:bodyPr wrap="square" lIns="635" tIns="635" rIns="635" bIns="635" rtlCol="0" anchor="ctr"/>
          <a:lstStyle/>
          <a:p>
            <a:pPr algn="ctr" indent="0" marL="0">
              <a:buNone/>
            </a:pPr>
            <a:r>
              <a:rPr lang="en-US" sz="1600" b="1" dirty="0">
                <a:solidFill>
                  <a:srgbClr val="1D1D1F"/>
                </a:solidFill>
              </a:rPr>
              <a:t>Question</a:t>
            </a:r>
            <a:endParaRPr lang="en-US" sz="1600" dirty="0"/>
          </a:p>
          <a:p>
            <a:pPr algn="ctr" indent="0" marL="0">
              <a:buNone/>
            </a:pPr>
            <a:r>
              <a:rPr lang="en-US" sz="1300" dirty="0">
                <a:solidFill>
                  <a:srgbClr val="55555B"/>
                </a:solidFill>
              </a:rPr>
              <a:t>why JWT?</a:t>
            </a:r>
            <a:endParaRPr lang="en-US" sz="1600" dirty="0"/>
          </a:p>
        </p:txBody>
      </p:sp>
      <p:sp>
        <p:nvSpPr>
          <p:cNvPr id="8" name="Text 5"/>
          <p:cNvSpPr txBox="1"/>
          <p:nvPr/>
        </p:nvSpPr>
        <p:spPr>
          <a:xfrm>
            <a:off x="2514600" y="2331720"/>
            <a:ext cx="411480" cy="548640"/>
          </a:xfrm>
          <a:prstGeom prst="rect">
            <a:avLst/>
          </a:prstGeom>
          <a:noFill/>
          <a:ln/>
        </p:spPr>
        <p:txBody>
          <a:bodyPr wrap="square" lIns="0" tIns="0" rIns="0" bIns="0" rtlCol="0" anchor="ctr"/>
          <a:lstStyle/>
          <a:p>
            <a:pPr algn="ctr" indent="0" marL="0">
              <a:buNone/>
            </a:pPr>
            <a:r>
              <a:rPr lang="en-US" sz="2400" dirty="0">
                <a:solidFill>
                  <a:srgbClr val="55555B"/>
                </a:solidFill>
              </a:rPr>
              <a:t>→</a:t>
            </a:r>
            <a:endParaRPr lang="en-US" sz="2400" dirty="0"/>
          </a:p>
        </p:txBody>
      </p:sp>
      <p:sp>
        <p:nvSpPr>
          <p:cNvPr id="9" name="Shape 6"/>
          <p:cNvSpPr/>
          <p:nvPr/>
        </p:nvSpPr>
        <p:spPr>
          <a:xfrm>
            <a:off x="2926080" y="2148840"/>
            <a:ext cx="1874520" cy="914400"/>
          </a:xfrm>
          <a:prstGeom prst="roundRect">
            <a:avLst>
              <a:gd name="adj" fmla="val 10000"/>
            </a:avLst>
          </a:prstGeom>
          <a:solidFill>
            <a:srgbClr val="FFFFFF"/>
          </a:solidFill>
          <a:ln w="12700">
            <a:solidFill>
              <a:srgbClr val="D9D9DE"/>
            </a:solidFill>
            <a:prstDash val="solid"/>
          </a:ln>
        </p:spPr>
      </p:sp>
      <p:sp>
        <p:nvSpPr>
          <p:cNvPr id="10" name="Text 7"/>
          <p:cNvSpPr txBox="1"/>
          <p:nvPr/>
        </p:nvSpPr>
        <p:spPr>
          <a:xfrm>
            <a:off x="2926080" y="2148840"/>
            <a:ext cx="1874520" cy="914400"/>
          </a:xfrm>
          <a:prstGeom prst="rect">
            <a:avLst/>
          </a:prstGeom>
          <a:noFill/>
          <a:ln/>
        </p:spPr>
        <p:txBody>
          <a:bodyPr wrap="square" lIns="635" tIns="635" rIns="635" bIns="635" rtlCol="0" anchor="ctr"/>
          <a:lstStyle/>
          <a:p>
            <a:pPr algn="ctr" indent="0" marL="0">
              <a:buNone/>
            </a:pPr>
            <a:r>
              <a:rPr lang="en-US" sz="1600" b="1" dirty="0">
                <a:solidFill>
                  <a:srgbClr val="1D1D1F"/>
                </a:solidFill>
              </a:rPr>
              <a:t>Code</a:t>
            </a:r>
            <a:endParaRPr lang="en-US" sz="1600" dirty="0"/>
          </a:p>
          <a:p>
            <a:pPr algn="ctr" indent="0" marL="0">
              <a:buNone/>
            </a:pPr>
            <a:r>
              <a:rPr lang="en-US" sz="1300" dirty="0">
                <a:solidFill>
                  <a:srgbClr val="55555B"/>
                </a:solidFill>
              </a:rPr>
              <a:t>auth.py</a:t>
            </a:r>
            <a:endParaRPr lang="en-US" sz="1600" dirty="0"/>
          </a:p>
        </p:txBody>
      </p:sp>
      <p:sp>
        <p:nvSpPr>
          <p:cNvPr id="11" name="Text 8"/>
          <p:cNvSpPr txBox="1"/>
          <p:nvPr/>
        </p:nvSpPr>
        <p:spPr>
          <a:xfrm>
            <a:off x="4800600" y="2331720"/>
            <a:ext cx="411480" cy="548640"/>
          </a:xfrm>
          <a:prstGeom prst="rect">
            <a:avLst/>
          </a:prstGeom>
          <a:noFill/>
          <a:ln/>
        </p:spPr>
        <p:txBody>
          <a:bodyPr wrap="square" lIns="0" tIns="0" rIns="0" bIns="0" rtlCol="0" anchor="ctr"/>
          <a:lstStyle/>
          <a:p>
            <a:pPr algn="ctr" indent="0" marL="0">
              <a:buNone/>
            </a:pPr>
            <a:r>
              <a:rPr lang="en-US" sz="2400" dirty="0">
                <a:solidFill>
                  <a:srgbClr val="55555B"/>
                </a:solidFill>
              </a:rPr>
              <a:t>→</a:t>
            </a:r>
            <a:endParaRPr lang="en-US" sz="2400" dirty="0"/>
          </a:p>
        </p:txBody>
      </p:sp>
      <p:sp>
        <p:nvSpPr>
          <p:cNvPr id="12" name="Shape 9"/>
          <p:cNvSpPr/>
          <p:nvPr/>
        </p:nvSpPr>
        <p:spPr>
          <a:xfrm>
            <a:off x="5212080" y="2148840"/>
            <a:ext cx="1874520" cy="914400"/>
          </a:xfrm>
          <a:prstGeom prst="roundRect">
            <a:avLst>
              <a:gd name="adj" fmla="val 10000"/>
            </a:avLst>
          </a:prstGeom>
          <a:solidFill>
            <a:srgbClr val="FFFFFF"/>
          </a:solidFill>
          <a:ln w="12700">
            <a:solidFill>
              <a:srgbClr val="D9D9DE"/>
            </a:solidFill>
            <a:prstDash val="solid"/>
          </a:ln>
        </p:spPr>
      </p:sp>
      <p:sp>
        <p:nvSpPr>
          <p:cNvPr id="13" name="Text 10"/>
          <p:cNvSpPr txBox="1"/>
          <p:nvPr/>
        </p:nvSpPr>
        <p:spPr>
          <a:xfrm>
            <a:off x="5212080" y="2148840"/>
            <a:ext cx="1874520" cy="914400"/>
          </a:xfrm>
          <a:prstGeom prst="rect">
            <a:avLst/>
          </a:prstGeom>
          <a:noFill/>
          <a:ln/>
        </p:spPr>
        <p:txBody>
          <a:bodyPr wrap="square" lIns="635" tIns="635" rIns="635" bIns="635" rtlCol="0" anchor="ctr"/>
          <a:lstStyle/>
          <a:p>
            <a:pPr algn="ctr" indent="0" marL="0">
              <a:buNone/>
            </a:pPr>
            <a:r>
              <a:rPr lang="en-US" sz="1600" b="1" dirty="0">
                <a:solidFill>
                  <a:srgbClr val="1D1D1F"/>
                </a:solidFill>
              </a:rPr>
              <a:t>Commit</a:t>
            </a:r>
            <a:endParaRPr lang="en-US" sz="1600" dirty="0"/>
          </a:p>
          <a:p>
            <a:pPr algn="ctr" indent="0" marL="0">
              <a:buNone/>
            </a:pPr>
            <a:r>
              <a:rPr lang="en-US" sz="1300" dirty="0">
                <a:solidFill>
                  <a:srgbClr val="55555B"/>
                </a:solidFill>
              </a:rPr>
              <a:t>69e7bbd</a:t>
            </a:r>
            <a:endParaRPr lang="en-US" sz="1600" dirty="0"/>
          </a:p>
        </p:txBody>
      </p:sp>
      <p:sp>
        <p:nvSpPr>
          <p:cNvPr id="14" name="Text 11"/>
          <p:cNvSpPr txBox="1"/>
          <p:nvPr/>
        </p:nvSpPr>
        <p:spPr>
          <a:xfrm>
            <a:off x="7086600" y="2331720"/>
            <a:ext cx="411480" cy="548640"/>
          </a:xfrm>
          <a:prstGeom prst="rect">
            <a:avLst/>
          </a:prstGeom>
          <a:noFill/>
          <a:ln/>
        </p:spPr>
        <p:txBody>
          <a:bodyPr wrap="square" lIns="0" tIns="0" rIns="0" bIns="0" rtlCol="0" anchor="ctr"/>
          <a:lstStyle/>
          <a:p>
            <a:pPr algn="ctr" indent="0" marL="0">
              <a:buNone/>
            </a:pPr>
            <a:r>
              <a:rPr lang="en-US" sz="2400" dirty="0">
                <a:solidFill>
                  <a:srgbClr val="55555B"/>
                </a:solidFill>
              </a:rPr>
              <a:t>→</a:t>
            </a:r>
            <a:endParaRPr lang="en-US" sz="2400" dirty="0"/>
          </a:p>
        </p:txBody>
      </p:sp>
      <p:sp>
        <p:nvSpPr>
          <p:cNvPr id="15" name="Shape 12"/>
          <p:cNvSpPr/>
          <p:nvPr/>
        </p:nvSpPr>
        <p:spPr>
          <a:xfrm>
            <a:off x="7498080" y="2148840"/>
            <a:ext cx="1874520" cy="914400"/>
          </a:xfrm>
          <a:prstGeom prst="roundRect">
            <a:avLst>
              <a:gd name="adj" fmla="val 10000"/>
            </a:avLst>
          </a:prstGeom>
          <a:solidFill>
            <a:srgbClr val="FFFFFF"/>
          </a:solidFill>
          <a:ln w="12700">
            <a:solidFill>
              <a:srgbClr val="D9D9DE"/>
            </a:solidFill>
            <a:prstDash val="solid"/>
          </a:ln>
        </p:spPr>
      </p:sp>
      <p:sp>
        <p:nvSpPr>
          <p:cNvPr id="16" name="Text 13"/>
          <p:cNvSpPr txBox="1"/>
          <p:nvPr/>
        </p:nvSpPr>
        <p:spPr>
          <a:xfrm>
            <a:off x="7498080" y="2148840"/>
            <a:ext cx="1874520" cy="914400"/>
          </a:xfrm>
          <a:prstGeom prst="rect">
            <a:avLst/>
          </a:prstGeom>
          <a:noFill/>
          <a:ln/>
        </p:spPr>
        <p:txBody>
          <a:bodyPr wrap="square" lIns="635" tIns="635" rIns="635" bIns="635" rtlCol="0" anchor="ctr"/>
          <a:lstStyle/>
          <a:p>
            <a:pPr algn="ctr" indent="0" marL="0">
              <a:buNone/>
            </a:pPr>
            <a:r>
              <a:rPr lang="en-US" sz="1600" b="1" dirty="0">
                <a:solidFill>
                  <a:srgbClr val="1D1D1F"/>
                </a:solidFill>
              </a:rPr>
              <a:t>PR</a:t>
            </a:r>
            <a:endParaRPr lang="en-US" sz="1600" dirty="0"/>
          </a:p>
          <a:p>
            <a:pPr algn="ctr" indent="0" marL="0">
              <a:buNone/>
            </a:pPr>
            <a:r>
              <a:rPr lang="en-US" sz="1300" dirty="0">
                <a:solidFill>
                  <a:srgbClr val="55555B"/>
                </a:solidFill>
              </a:rPr>
              <a:t>#8 review</a:t>
            </a:r>
            <a:endParaRPr lang="en-US" sz="1600" dirty="0"/>
          </a:p>
        </p:txBody>
      </p:sp>
      <p:sp>
        <p:nvSpPr>
          <p:cNvPr id="17" name="Text 14"/>
          <p:cNvSpPr txBox="1"/>
          <p:nvPr/>
        </p:nvSpPr>
        <p:spPr>
          <a:xfrm>
            <a:off x="9372600" y="2331720"/>
            <a:ext cx="411480" cy="548640"/>
          </a:xfrm>
          <a:prstGeom prst="rect">
            <a:avLst/>
          </a:prstGeom>
          <a:noFill/>
          <a:ln/>
        </p:spPr>
        <p:txBody>
          <a:bodyPr wrap="square" lIns="0" tIns="0" rIns="0" bIns="0" rtlCol="0" anchor="ctr"/>
          <a:lstStyle/>
          <a:p>
            <a:pPr algn="ctr" indent="0" marL="0">
              <a:buNone/>
            </a:pPr>
            <a:r>
              <a:rPr lang="en-US" sz="2400" dirty="0">
                <a:solidFill>
                  <a:srgbClr val="55555B"/>
                </a:solidFill>
              </a:rPr>
              <a:t>→</a:t>
            </a:r>
            <a:endParaRPr lang="en-US" sz="2400" dirty="0"/>
          </a:p>
        </p:txBody>
      </p:sp>
      <p:sp>
        <p:nvSpPr>
          <p:cNvPr id="18" name="Shape 15"/>
          <p:cNvSpPr/>
          <p:nvPr/>
        </p:nvSpPr>
        <p:spPr>
          <a:xfrm>
            <a:off x="9784080" y="2148840"/>
            <a:ext cx="1874520" cy="914400"/>
          </a:xfrm>
          <a:prstGeom prst="roundRect">
            <a:avLst>
              <a:gd name="adj" fmla="val 10000"/>
            </a:avLst>
          </a:prstGeom>
          <a:solidFill>
            <a:srgbClr val="FFFFFF"/>
          </a:solidFill>
          <a:ln w="12700">
            <a:solidFill>
              <a:srgbClr val="D9D9DE"/>
            </a:solidFill>
            <a:prstDash val="solid"/>
          </a:ln>
        </p:spPr>
      </p:sp>
      <p:sp>
        <p:nvSpPr>
          <p:cNvPr id="19" name="Text 16"/>
          <p:cNvSpPr txBox="1"/>
          <p:nvPr/>
        </p:nvSpPr>
        <p:spPr>
          <a:xfrm>
            <a:off x="9784080" y="2148840"/>
            <a:ext cx="1874520" cy="914400"/>
          </a:xfrm>
          <a:prstGeom prst="rect">
            <a:avLst/>
          </a:prstGeom>
          <a:noFill/>
          <a:ln/>
        </p:spPr>
        <p:txBody>
          <a:bodyPr wrap="square" lIns="635" tIns="635" rIns="635" bIns="635" rtlCol="0" anchor="ctr"/>
          <a:lstStyle/>
          <a:p>
            <a:pPr algn="ctr" indent="0" marL="0">
              <a:buNone/>
            </a:pPr>
            <a:r>
              <a:rPr lang="en-US" sz="1600" b="1" dirty="0">
                <a:solidFill>
                  <a:srgbClr val="1D1D1F"/>
                </a:solidFill>
              </a:rPr>
              <a:t>Issue</a:t>
            </a:r>
            <a:endParaRPr lang="en-US" sz="1600" dirty="0"/>
          </a:p>
          <a:p>
            <a:pPr algn="ctr" indent="0" marL="0">
              <a:buNone/>
            </a:pPr>
            <a:r>
              <a:rPr lang="en-US" sz="1300" dirty="0">
                <a:solidFill>
                  <a:srgbClr val="55555B"/>
                </a:solidFill>
              </a:rPr>
              <a:t>#7 session fixation</a:t>
            </a:r>
            <a:endParaRPr lang="en-US" sz="1600" dirty="0"/>
          </a:p>
        </p:txBody>
      </p:sp>
      <p:sp>
        <p:nvSpPr>
          <p:cNvPr id="20" name="Shape 17"/>
          <p:cNvSpPr/>
          <p:nvPr/>
        </p:nvSpPr>
        <p:spPr>
          <a:xfrm>
            <a:off x="548640" y="3520440"/>
            <a:ext cx="3514344" cy="2468880"/>
          </a:xfrm>
          <a:prstGeom prst="roundRect">
            <a:avLst>
              <a:gd name="adj" fmla="val 370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1" name="Text 18"/>
          <p:cNvSpPr txBox="1"/>
          <p:nvPr/>
        </p:nvSpPr>
        <p:spPr>
          <a:xfrm>
            <a:off x="731520" y="3657600"/>
            <a:ext cx="3148584" cy="365760"/>
          </a:xfrm>
          <a:prstGeom prst="rect">
            <a:avLst/>
          </a:prstGeom>
          <a:noFill/>
          <a:ln/>
        </p:spPr>
        <p:txBody>
          <a:bodyPr wrap="square" lIns="0" tIns="0" rIns="0" bIns="0" rtlCol="0" anchor="t"/>
          <a:lstStyle/>
          <a:p>
            <a:pPr indent="0" marL="0">
              <a:buNone/>
            </a:pPr>
            <a:r>
              <a:rPr lang="en-US" sz="2000" b="1" dirty="0">
                <a:solidFill>
                  <a:srgbClr val="1D1D1F"/>
                </a:solidFill>
              </a:rPr>
              <a:t>Ordinary assistants</a:t>
            </a:r>
            <a:endParaRPr lang="en-US" sz="2000" dirty="0"/>
          </a:p>
        </p:txBody>
      </p:sp>
      <p:sp>
        <p:nvSpPr>
          <p:cNvPr id="22" name="Text 19"/>
          <p:cNvSpPr txBox="1"/>
          <p:nvPr/>
        </p:nvSpPr>
        <p:spPr>
          <a:xfrm>
            <a:off x="731520" y="4023360"/>
            <a:ext cx="3148584" cy="1856232"/>
          </a:xfrm>
          <a:prstGeom prst="rect">
            <a:avLst/>
          </a:prstGeom>
          <a:noFill/>
          <a:ln/>
        </p:spPr>
        <p:txBody>
          <a:bodyPr wrap="square" lIns="0" tIns="0" rIns="0" bIns="0" rtlCol="0" anchor="t"/>
          <a:lstStyle/>
          <a:p>
            <a:pPr indent="0" marL="0">
              <a:buNone/>
            </a:pPr>
            <a:r>
              <a:rPr lang="en-US" sz="1800" dirty="0">
                <a:solidFill>
                  <a:srgbClr val="55555B"/>
                </a:solidFill>
              </a:rPr>
              <a:t>See only today’s code, so “why?” becomes a guess.</a:t>
            </a:r>
            <a:endParaRPr lang="en-US" sz="1800" dirty="0"/>
          </a:p>
        </p:txBody>
      </p:sp>
      <p:sp>
        <p:nvSpPr>
          <p:cNvPr id="23" name="Shape 20"/>
          <p:cNvSpPr/>
          <p:nvPr/>
        </p:nvSpPr>
        <p:spPr>
          <a:xfrm>
            <a:off x="4337304" y="3520440"/>
            <a:ext cx="3514344" cy="2468880"/>
          </a:xfrm>
          <a:prstGeom prst="roundRect">
            <a:avLst>
              <a:gd name="adj" fmla="val 370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4" name="Text 21"/>
          <p:cNvSpPr txBox="1"/>
          <p:nvPr/>
        </p:nvSpPr>
        <p:spPr>
          <a:xfrm>
            <a:off x="4520184" y="3657600"/>
            <a:ext cx="3148584" cy="365760"/>
          </a:xfrm>
          <a:prstGeom prst="rect">
            <a:avLst/>
          </a:prstGeom>
          <a:noFill/>
          <a:ln/>
        </p:spPr>
        <p:txBody>
          <a:bodyPr wrap="square" lIns="0" tIns="0" rIns="0" bIns="0" rtlCol="0" anchor="t"/>
          <a:lstStyle/>
          <a:p>
            <a:pPr indent="0" marL="0">
              <a:buNone/>
            </a:pPr>
            <a:r>
              <a:rPr lang="en-US" sz="2000" b="1" dirty="0">
                <a:solidFill>
                  <a:srgbClr val="1D1D1F"/>
                </a:solidFill>
              </a:rPr>
              <a:t>CodeOrigin</a:t>
            </a:r>
            <a:endParaRPr lang="en-US" sz="2000" dirty="0"/>
          </a:p>
        </p:txBody>
      </p:sp>
      <p:sp>
        <p:nvSpPr>
          <p:cNvPr id="25" name="Text 22"/>
          <p:cNvSpPr txBox="1"/>
          <p:nvPr/>
        </p:nvSpPr>
        <p:spPr>
          <a:xfrm>
            <a:off x="4520184" y="4023360"/>
            <a:ext cx="3148584" cy="1856232"/>
          </a:xfrm>
          <a:prstGeom prst="rect">
            <a:avLst/>
          </a:prstGeom>
          <a:noFill/>
          <a:ln/>
        </p:spPr>
        <p:txBody>
          <a:bodyPr wrap="square" lIns="0" tIns="0" rIns="0" bIns="0" rtlCol="0" anchor="t"/>
          <a:lstStyle/>
          <a:p>
            <a:pPr indent="0" marL="0">
              <a:buNone/>
            </a:pPr>
            <a:r>
              <a:rPr lang="en-US" sz="1800" dirty="0">
                <a:solidFill>
                  <a:srgbClr val="55555B"/>
                </a:solidFill>
              </a:rPr>
              <a:t>Indexes commits, diffs, issues, PRs and reviews, cross-linked, and cites each claim (commit:69e7bbd).</a:t>
            </a:r>
            <a:endParaRPr lang="en-US" sz="1800" dirty="0"/>
          </a:p>
        </p:txBody>
      </p:sp>
      <p:sp>
        <p:nvSpPr>
          <p:cNvPr id="26" name="Shape 23"/>
          <p:cNvSpPr/>
          <p:nvPr/>
        </p:nvSpPr>
        <p:spPr>
          <a:xfrm>
            <a:off x="8125968" y="3520440"/>
            <a:ext cx="3514344" cy="2468880"/>
          </a:xfrm>
          <a:prstGeom prst="roundRect">
            <a:avLst>
              <a:gd name="adj" fmla="val 370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7" name="Text 24"/>
          <p:cNvSpPr txBox="1"/>
          <p:nvPr/>
        </p:nvSpPr>
        <p:spPr>
          <a:xfrm>
            <a:off x="8308848" y="3657600"/>
            <a:ext cx="3148584" cy="365760"/>
          </a:xfrm>
          <a:prstGeom prst="rect">
            <a:avLst/>
          </a:prstGeom>
          <a:noFill/>
          <a:ln/>
        </p:spPr>
        <p:txBody>
          <a:bodyPr wrap="square" lIns="0" tIns="0" rIns="0" bIns="0" rtlCol="0" anchor="t"/>
          <a:lstStyle/>
          <a:p>
            <a:pPr indent="0" marL="0">
              <a:buNone/>
            </a:pPr>
            <a:r>
              <a:rPr lang="en-US" sz="2000" b="1" dirty="0">
                <a:solidFill>
                  <a:srgbClr val="1D1D1F"/>
                </a:solidFill>
              </a:rPr>
              <a:t>If the history is silent</a:t>
            </a:r>
            <a:endParaRPr lang="en-US" sz="2000" dirty="0"/>
          </a:p>
        </p:txBody>
      </p:sp>
      <p:sp>
        <p:nvSpPr>
          <p:cNvPr id="28" name="Text 25"/>
          <p:cNvSpPr txBox="1"/>
          <p:nvPr/>
        </p:nvSpPr>
        <p:spPr>
          <a:xfrm>
            <a:off x="8308848" y="4023360"/>
            <a:ext cx="3148584" cy="1856232"/>
          </a:xfrm>
          <a:prstGeom prst="rect">
            <a:avLst/>
          </a:prstGeom>
          <a:noFill/>
          <a:ln/>
        </p:spPr>
        <p:txBody>
          <a:bodyPr wrap="square" lIns="0" tIns="0" rIns="0" bIns="0" rtlCol="0" anchor="t"/>
          <a:lstStyle/>
          <a:p>
            <a:pPr indent="0" marL="0">
              <a:buNone/>
            </a:pPr>
            <a:r>
              <a:rPr lang="en-US" sz="1800" dirty="0">
                <a:solidFill>
                  <a:srgbClr val="55555B"/>
                </a:solidFill>
              </a:rPr>
              <a:t>It says so instead of inventing a story.</a:t>
            </a:r>
            <a:endParaRPr lang="en-US" sz="18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RESEARCH QUESTION</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A fair test, decided in advance</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Does adding repository history to an LLM-RAG pipeline improve the accuracy and usefulness of answers?</a:t>
            </a:r>
            <a:endParaRPr lang="en-US" sz="1600" dirty="0"/>
          </a:p>
        </p:txBody>
      </p:sp>
      <p:sp>
        <p:nvSpPr>
          <p:cNvPr id="6" name="Shape 3"/>
          <p:cNvSpPr/>
          <p:nvPr/>
        </p:nvSpPr>
        <p:spPr>
          <a:xfrm>
            <a:off x="548640" y="2148840"/>
            <a:ext cx="2567178" cy="2011680"/>
          </a:xfrm>
          <a:prstGeom prst="roundRect">
            <a:avLst>
              <a:gd name="adj" fmla="val 4545"/>
            </a:avLst>
          </a:prstGeom>
          <a:solidFill>
            <a:srgbClr val="FFFFFF"/>
          </a:solidFill>
          <a:ln w="9525">
            <a:solidFill>
              <a:srgbClr val="D9D9DE"/>
            </a:solidFill>
            <a:prstDash val="solid"/>
          </a:ln>
        </p:spPr>
      </p:sp>
      <p:sp>
        <p:nvSpPr>
          <p:cNvPr id="7" name="Text 4"/>
          <p:cNvSpPr txBox="1"/>
          <p:nvPr/>
        </p:nvSpPr>
        <p:spPr>
          <a:xfrm>
            <a:off x="731520" y="2286000"/>
            <a:ext cx="2201418" cy="365760"/>
          </a:xfrm>
          <a:prstGeom prst="rect">
            <a:avLst/>
          </a:prstGeom>
          <a:noFill/>
          <a:ln/>
        </p:spPr>
        <p:txBody>
          <a:bodyPr wrap="square" lIns="0" tIns="0" rIns="0" bIns="0" rtlCol="0" anchor="ctr"/>
          <a:lstStyle/>
          <a:p>
            <a:pPr indent="0" marL="0">
              <a:buNone/>
            </a:pPr>
            <a:r>
              <a:rPr lang="en-US" sz="1600" b="1" dirty="0">
                <a:solidFill>
                  <a:srgbClr val="0071E3"/>
                </a:solidFill>
                <a:latin typeface="Courier New" pitchFamily="34" charset="0"/>
                <a:ea typeface="Courier New" pitchFamily="34" charset="-122"/>
                <a:cs typeface="Courier New" pitchFamily="34" charset="-120"/>
              </a:rPr>
              <a:t>no_context</a:t>
            </a:r>
            <a:endParaRPr lang="en-US" sz="1600" dirty="0"/>
          </a:p>
        </p:txBody>
      </p:sp>
      <p:sp>
        <p:nvSpPr>
          <p:cNvPr id="8" name="Text 5"/>
          <p:cNvSpPr txBox="1"/>
          <p:nvPr/>
        </p:nvSpPr>
        <p:spPr>
          <a:xfrm>
            <a:off x="731520" y="2697480"/>
            <a:ext cx="2201418" cy="868680"/>
          </a:xfrm>
          <a:prstGeom prst="rect">
            <a:avLst/>
          </a:prstGeom>
          <a:noFill/>
          <a:ln/>
        </p:spPr>
        <p:txBody>
          <a:bodyPr wrap="square" lIns="0" tIns="0" rIns="0" bIns="0" rtlCol="0" anchor="t"/>
          <a:lstStyle/>
          <a:p>
            <a:pPr indent="0" marL="0">
              <a:buNone/>
            </a:pPr>
            <a:r>
              <a:rPr lang="en-US" sz="1500" dirty="0">
                <a:solidFill>
                  <a:srgbClr val="1D1D1F"/>
                </a:solidFill>
              </a:rPr>
              <a:t>Question only</a:t>
            </a:r>
            <a:endParaRPr lang="en-US" sz="1500" dirty="0"/>
          </a:p>
        </p:txBody>
      </p:sp>
      <p:sp>
        <p:nvSpPr>
          <p:cNvPr id="9" name="Text 6"/>
          <p:cNvSpPr txBox="1"/>
          <p:nvPr/>
        </p:nvSpPr>
        <p:spPr>
          <a:xfrm>
            <a:off x="731520" y="3611880"/>
            <a:ext cx="2201418" cy="457200"/>
          </a:xfrm>
          <a:prstGeom prst="rect">
            <a:avLst/>
          </a:prstGeom>
          <a:noFill/>
          <a:ln/>
        </p:spPr>
        <p:txBody>
          <a:bodyPr wrap="square" lIns="0" tIns="0" rIns="0" bIns="0" rtlCol="0" anchor="t"/>
          <a:lstStyle/>
          <a:p>
            <a:pPr indent="0" marL="0">
              <a:buNone/>
            </a:pPr>
            <a:r>
              <a:rPr lang="en-US" sz="1300" dirty="0">
                <a:solidFill>
                  <a:srgbClr val="55555B"/>
                </a:solidFill>
              </a:rPr>
              <a:t>what the model guesses</a:t>
            </a:r>
            <a:endParaRPr lang="en-US" sz="1300" dirty="0"/>
          </a:p>
        </p:txBody>
      </p:sp>
      <p:sp>
        <p:nvSpPr>
          <p:cNvPr id="10" name="Shape 7"/>
          <p:cNvSpPr/>
          <p:nvPr/>
        </p:nvSpPr>
        <p:spPr>
          <a:xfrm>
            <a:off x="3390138" y="2148840"/>
            <a:ext cx="2567178" cy="2011680"/>
          </a:xfrm>
          <a:prstGeom prst="roundRect">
            <a:avLst>
              <a:gd name="adj" fmla="val 4545"/>
            </a:avLst>
          </a:prstGeom>
          <a:solidFill>
            <a:srgbClr val="FFFFFF"/>
          </a:solidFill>
          <a:ln w="9525">
            <a:solidFill>
              <a:srgbClr val="D9D9DE"/>
            </a:solidFill>
            <a:prstDash val="solid"/>
          </a:ln>
        </p:spPr>
      </p:sp>
      <p:sp>
        <p:nvSpPr>
          <p:cNvPr id="11" name="Text 8"/>
          <p:cNvSpPr txBox="1"/>
          <p:nvPr/>
        </p:nvSpPr>
        <p:spPr>
          <a:xfrm>
            <a:off x="3573018" y="2286000"/>
            <a:ext cx="2201418" cy="365760"/>
          </a:xfrm>
          <a:prstGeom prst="rect">
            <a:avLst/>
          </a:prstGeom>
          <a:noFill/>
          <a:ln/>
        </p:spPr>
        <p:txBody>
          <a:bodyPr wrap="square" lIns="0" tIns="0" rIns="0" bIns="0" rtlCol="0" anchor="ctr"/>
          <a:lstStyle/>
          <a:p>
            <a:pPr indent="0" marL="0">
              <a:buNone/>
            </a:pPr>
            <a:r>
              <a:rPr lang="en-US" sz="1600" b="1" dirty="0">
                <a:solidFill>
                  <a:srgbClr val="0071E3"/>
                </a:solidFill>
                <a:latin typeface="Courier New" pitchFamily="34" charset="0"/>
                <a:ea typeface="Courier New" pitchFamily="34" charset="-122"/>
                <a:cs typeface="Courier New" pitchFamily="34" charset="-120"/>
              </a:rPr>
              <a:t>code_only</a:t>
            </a:r>
            <a:endParaRPr lang="en-US" sz="1600" dirty="0"/>
          </a:p>
        </p:txBody>
      </p:sp>
      <p:sp>
        <p:nvSpPr>
          <p:cNvPr id="12" name="Text 9"/>
          <p:cNvSpPr txBox="1"/>
          <p:nvPr/>
        </p:nvSpPr>
        <p:spPr>
          <a:xfrm>
            <a:off x="3573018" y="2697480"/>
            <a:ext cx="2201418" cy="868680"/>
          </a:xfrm>
          <a:prstGeom prst="rect">
            <a:avLst/>
          </a:prstGeom>
          <a:noFill/>
          <a:ln/>
        </p:spPr>
        <p:txBody>
          <a:bodyPr wrap="square" lIns="0" tIns="0" rIns="0" bIns="0" rtlCol="0" anchor="t"/>
          <a:lstStyle/>
          <a:p>
            <a:pPr indent="0" marL="0">
              <a:buNone/>
            </a:pPr>
            <a:r>
              <a:rPr lang="en-US" sz="1500" dirty="0">
                <a:solidFill>
                  <a:srgbClr val="1D1D1F"/>
                </a:solidFill>
              </a:rPr>
              <a:t>Question + current code and docs</a:t>
            </a:r>
            <a:endParaRPr lang="en-US" sz="1500" dirty="0"/>
          </a:p>
        </p:txBody>
      </p:sp>
      <p:sp>
        <p:nvSpPr>
          <p:cNvPr id="13" name="Text 10"/>
          <p:cNvSpPr txBox="1"/>
          <p:nvPr/>
        </p:nvSpPr>
        <p:spPr>
          <a:xfrm>
            <a:off x="3573018" y="3611880"/>
            <a:ext cx="2201418" cy="457200"/>
          </a:xfrm>
          <a:prstGeom prst="rect">
            <a:avLst/>
          </a:prstGeom>
          <a:noFill/>
          <a:ln/>
        </p:spPr>
        <p:txBody>
          <a:bodyPr wrap="square" lIns="0" tIns="0" rIns="0" bIns="0" rtlCol="0" anchor="t"/>
          <a:lstStyle/>
          <a:p>
            <a:pPr indent="0" marL="0">
              <a:buNone/>
            </a:pPr>
            <a:r>
              <a:rPr lang="en-US" sz="1300" dirty="0">
                <a:solidFill>
                  <a:srgbClr val="55555B"/>
                </a:solidFill>
              </a:rPr>
              <a:t>how most assistants work</a:t>
            </a:r>
            <a:endParaRPr lang="en-US" sz="1300" dirty="0"/>
          </a:p>
        </p:txBody>
      </p:sp>
      <p:sp>
        <p:nvSpPr>
          <p:cNvPr id="14" name="Shape 11"/>
          <p:cNvSpPr/>
          <p:nvPr/>
        </p:nvSpPr>
        <p:spPr>
          <a:xfrm>
            <a:off x="6231636" y="2148840"/>
            <a:ext cx="2567178" cy="2011680"/>
          </a:xfrm>
          <a:prstGeom prst="roundRect">
            <a:avLst>
              <a:gd name="adj" fmla="val 4545"/>
            </a:avLst>
          </a:prstGeom>
          <a:solidFill>
            <a:srgbClr val="E6F0FC"/>
          </a:solidFill>
          <a:ln w="19050">
            <a:solidFill>
              <a:srgbClr val="0071E3"/>
            </a:solidFill>
            <a:prstDash val="solid"/>
          </a:ln>
        </p:spPr>
      </p:sp>
      <p:sp>
        <p:nvSpPr>
          <p:cNvPr id="15" name="Text 12"/>
          <p:cNvSpPr txBox="1"/>
          <p:nvPr/>
        </p:nvSpPr>
        <p:spPr>
          <a:xfrm>
            <a:off x="6414516" y="2286000"/>
            <a:ext cx="2201418" cy="365760"/>
          </a:xfrm>
          <a:prstGeom prst="rect">
            <a:avLst/>
          </a:prstGeom>
          <a:noFill/>
          <a:ln/>
        </p:spPr>
        <p:txBody>
          <a:bodyPr wrap="square" lIns="0" tIns="0" rIns="0" bIns="0" rtlCol="0" anchor="ctr"/>
          <a:lstStyle/>
          <a:p>
            <a:pPr indent="0" marL="0">
              <a:buNone/>
            </a:pPr>
            <a:r>
              <a:rPr lang="en-US" sz="1600" b="1" dirty="0">
                <a:solidFill>
                  <a:srgbClr val="0071E3"/>
                </a:solidFill>
                <a:latin typeface="Courier New" pitchFamily="34" charset="0"/>
                <a:ea typeface="Courier New" pitchFamily="34" charset="-122"/>
                <a:cs typeface="Courier New" pitchFamily="34" charset="-120"/>
              </a:rPr>
              <a:t>code_history</a:t>
            </a:r>
            <a:endParaRPr lang="en-US" sz="1600" dirty="0"/>
          </a:p>
        </p:txBody>
      </p:sp>
      <p:sp>
        <p:nvSpPr>
          <p:cNvPr id="16" name="Text 13"/>
          <p:cNvSpPr txBox="1"/>
          <p:nvPr/>
        </p:nvSpPr>
        <p:spPr>
          <a:xfrm>
            <a:off x="6414516" y="2697480"/>
            <a:ext cx="2201418" cy="868680"/>
          </a:xfrm>
          <a:prstGeom prst="rect">
            <a:avLst/>
          </a:prstGeom>
          <a:noFill/>
          <a:ln/>
        </p:spPr>
        <p:txBody>
          <a:bodyPr wrap="square" lIns="0" tIns="0" rIns="0" bIns="0" rtlCol="0" anchor="t"/>
          <a:lstStyle/>
          <a:p>
            <a:pPr indent="0" marL="0">
              <a:buNone/>
            </a:pPr>
            <a:r>
              <a:rPr lang="en-US" sz="1500" dirty="0">
                <a:solidFill>
                  <a:srgbClr val="1D1D1F"/>
                </a:solidFill>
              </a:rPr>
              <a:t>Code + commits, diffs, issues, PRs, reviews</a:t>
            </a:r>
            <a:endParaRPr lang="en-US" sz="1500" dirty="0"/>
          </a:p>
        </p:txBody>
      </p:sp>
      <p:sp>
        <p:nvSpPr>
          <p:cNvPr id="17" name="Text 14"/>
          <p:cNvSpPr txBox="1"/>
          <p:nvPr/>
        </p:nvSpPr>
        <p:spPr>
          <a:xfrm>
            <a:off x="6414516" y="3611880"/>
            <a:ext cx="2201418" cy="457200"/>
          </a:xfrm>
          <a:prstGeom prst="rect">
            <a:avLst/>
          </a:prstGeom>
          <a:noFill/>
          <a:ln/>
        </p:spPr>
        <p:txBody>
          <a:bodyPr wrap="square" lIns="0" tIns="0" rIns="0" bIns="0" rtlCol="0" anchor="t"/>
          <a:lstStyle/>
          <a:p>
            <a:pPr indent="0" marL="0">
              <a:buNone/>
            </a:pPr>
            <a:r>
              <a:rPr lang="en-US" sz="1300" dirty="0">
                <a:solidFill>
                  <a:srgbClr val="55555B"/>
                </a:solidFill>
              </a:rPr>
              <a:t>the hypothesis</a:t>
            </a:r>
            <a:endParaRPr lang="en-US" sz="1300" dirty="0"/>
          </a:p>
        </p:txBody>
      </p:sp>
      <p:sp>
        <p:nvSpPr>
          <p:cNvPr id="18" name="Shape 15"/>
          <p:cNvSpPr/>
          <p:nvPr/>
        </p:nvSpPr>
        <p:spPr>
          <a:xfrm>
            <a:off x="9073134" y="2148840"/>
            <a:ext cx="2567178" cy="2011680"/>
          </a:xfrm>
          <a:prstGeom prst="roundRect">
            <a:avLst>
              <a:gd name="adj" fmla="val 4545"/>
            </a:avLst>
          </a:prstGeom>
          <a:solidFill>
            <a:srgbClr val="FFFFFF"/>
          </a:solidFill>
          <a:ln w="9525">
            <a:solidFill>
              <a:srgbClr val="D9D9DE"/>
            </a:solidFill>
            <a:prstDash val="solid"/>
          </a:ln>
        </p:spPr>
      </p:sp>
      <p:sp>
        <p:nvSpPr>
          <p:cNvPr id="19" name="Text 16"/>
          <p:cNvSpPr txBox="1"/>
          <p:nvPr/>
        </p:nvSpPr>
        <p:spPr>
          <a:xfrm>
            <a:off x="9256014" y="2286000"/>
            <a:ext cx="2201418" cy="365760"/>
          </a:xfrm>
          <a:prstGeom prst="rect">
            <a:avLst/>
          </a:prstGeom>
          <a:noFill/>
          <a:ln/>
        </p:spPr>
        <p:txBody>
          <a:bodyPr wrap="square" lIns="0" tIns="0" rIns="0" bIns="0" rtlCol="0" anchor="ctr"/>
          <a:lstStyle/>
          <a:p>
            <a:pPr indent="0" marL="0">
              <a:buNone/>
            </a:pPr>
            <a:r>
              <a:rPr lang="en-US" sz="1600" b="1" dirty="0">
                <a:solidFill>
                  <a:srgbClr val="0071E3"/>
                </a:solidFill>
                <a:latin typeface="Courier New" pitchFamily="34" charset="0"/>
                <a:ea typeface="Courier New" pitchFamily="34" charset="-122"/>
                <a:cs typeface="Courier New" pitchFamily="34" charset="-120"/>
              </a:rPr>
              <a:t>oracle</a:t>
            </a:r>
            <a:endParaRPr lang="en-US" sz="1600" dirty="0"/>
          </a:p>
        </p:txBody>
      </p:sp>
      <p:sp>
        <p:nvSpPr>
          <p:cNvPr id="20" name="Text 17"/>
          <p:cNvSpPr txBox="1"/>
          <p:nvPr/>
        </p:nvSpPr>
        <p:spPr>
          <a:xfrm>
            <a:off x="9256014" y="2697480"/>
            <a:ext cx="2201418" cy="868680"/>
          </a:xfrm>
          <a:prstGeom prst="rect">
            <a:avLst/>
          </a:prstGeom>
          <a:noFill/>
          <a:ln/>
        </p:spPr>
        <p:txBody>
          <a:bodyPr wrap="square" lIns="0" tIns="0" rIns="0" bIns="0" rtlCol="0" anchor="t"/>
          <a:lstStyle/>
          <a:p>
            <a:pPr indent="0" marL="0">
              <a:buNone/>
            </a:pPr>
            <a:r>
              <a:rPr lang="en-US" sz="1500" dirty="0">
                <a:solidFill>
                  <a:srgbClr val="1D1D1F"/>
                </a:solidFill>
              </a:rPr>
              <a:t>Question + gold evidence, no retrieval</a:t>
            </a:r>
            <a:endParaRPr lang="en-US" sz="1500" dirty="0"/>
          </a:p>
        </p:txBody>
      </p:sp>
      <p:sp>
        <p:nvSpPr>
          <p:cNvPr id="21" name="Text 18"/>
          <p:cNvSpPr txBox="1"/>
          <p:nvPr/>
        </p:nvSpPr>
        <p:spPr>
          <a:xfrm>
            <a:off x="9256014" y="3611880"/>
            <a:ext cx="2201418" cy="457200"/>
          </a:xfrm>
          <a:prstGeom prst="rect">
            <a:avLst/>
          </a:prstGeom>
          <a:noFill/>
          <a:ln/>
        </p:spPr>
        <p:txBody>
          <a:bodyPr wrap="square" lIns="0" tIns="0" rIns="0" bIns="0" rtlCol="0" anchor="t"/>
          <a:lstStyle/>
          <a:p>
            <a:pPr indent="0" marL="0">
              <a:buNone/>
            </a:pPr>
            <a:r>
              <a:rPr lang="en-US" sz="1300" dirty="0">
                <a:solidFill>
                  <a:srgbClr val="55555B"/>
                </a:solidFill>
              </a:rPr>
              <a:t>separates retrieval from model failure</a:t>
            </a:r>
            <a:endParaRPr lang="en-US" sz="1300" dirty="0"/>
          </a:p>
        </p:txBody>
      </p:sp>
      <p:sp>
        <p:nvSpPr>
          <p:cNvPr id="22" name="Shape 19"/>
          <p:cNvSpPr/>
          <p:nvPr/>
        </p:nvSpPr>
        <p:spPr>
          <a:xfrm>
            <a:off x="548640" y="4434840"/>
            <a:ext cx="11091672" cy="1691640"/>
          </a:xfrm>
          <a:prstGeom prst="roundRect">
            <a:avLst>
              <a:gd name="adj" fmla="val 5405"/>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3" name="Text 20"/>
          <p:cNvSpPr txBox="1"/>
          <p:nvPr/>
        </p:nvSpPr>
        <p:spPr>
          <a:xfrm>
            <a:off x="731520" y="4572000"/>
            <a:ext cx="10725912" cy="411480"/>
          </a:xfrm>
          <a:prstGeom prst="rect">
            <a:avLst/>
          </a:prstGeom>
          <a:noFill/>
          <a:ln/>
        </p:spPr>
        <p:txBody>
          <a:bodyPr wrap="square" lIns="0" tIns="0" rIns="0" bIns="0" rtlCol="0" anchor="t"/>
          <a:lstStyle/>
          <a:p>
            <a:pPr indent="0" marL="0">
              <a:buNone/>
            </a:pPr>
            <a:r>
              <a:rPr lang="en-US" sz="1800" b="1" dirty="0">
                <a:solidFill>
                  <a:srgbClr val="1D1D1F"/>
                </a:solidFill>
              </a:rPr>
              <a:t>Decision rule (fixed before running)</a:t>
            </a:r>
            <a:endParaRPr lang="en-US" sz="1800" dirty="0"/>
          </a:p>
        </p:txBody>
      </p:sp>
      <p:sp>
        <p:nvSpPr>
          <p:cNvPr id="24" name="Text 21"/>
          <p:cNvSpPr txBox="1"/>
          <p:nvPr/>
        </p:nvSpPr>
        <p:spPr>
          <a:xfrm>
            <a:off x="731520" y="4983480"/>
            <a:ext cx="10725912" cy="1033272"/>
          </a:xfrm>
          <a:prstGeom prst="rect">
            <a:avLst/>
          </a:prstGeom>
          <a:noFill/>
          <a:ln/>
        </p:spPr>
        <p:txBody>
          <a:bodyPr wrap="square" lIns="0" tIns="0" rIns="0" bIns="0" rtlCol="0" anchor="t"/>
          <a:lstStyle/>
          <a:p>
            <a:pPr indent="0" marL="0">
              <a:buNone/>
            </a:pPr>
            <a:r>
              <a:rPr lang="en-US" sz="1500" dirty="0">
                <a:solidFill>
                  <a:srgbClr val="55555B"/>
                </a:solidFill>
              </a:rPr>
              <a:t>History is useful only if code_history beats code_only on history questions by at least 0.10 correctness, the 95% bootstrap interval excludes 0, and the control category loses no more than 0.05. Same prompt shape and context budget in every mode, temperature 0, fixed seed. Results are reported per category, never as one blended score.</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METHODOLOGY</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How the experiment is built</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Everything that could change the answer is held constant, so a difference can only come from the evidence shown.</a:t>
            </a:r>
            <a:endParaRPr lang="en-US" sz="1600" dirty="0"/>
          </a:p>
        </p:txBody>
      </p:sp>
      <p:sp>
        <p:nvSpPr>
          <p:cNvPr id="6" name="Shape 3"/>
          <p:cNvSpPr/>
          <p:nvPr/>
        </p:nvSpPr>
        <p:spPr>
          <a:xfrm>
            <a:off x="548640" y="2103120"/>
            <a:ext cx="2567178" cy="4023360"/>
          </a:xfrm>
          <a:prstGeom prst="roundRect">
            <a:avLst>
              <a:gd name="adj" fmla="val 3562"/>
            </a:avLst>
          </a:prstGeom>
          <a:solidFill>
            <a:srgbClr val="FFFFFF"/>
          </a:solidFill>
          <a:ln w="9525">
            <a:solidFill>
              <a:srgbClr val="D9D9DE"/>
            </a:solidFill>
            <a:prstDash val="solid"/>
          </a:ln>
        </p:spPr>
      </p:sp>
      <p:sp>
        <p:nvSpPr>
          <p:cNvPr id="7" name="Text 4"/>
          <p:cNvSpPr txBox="1"/>
          <p:nvPr/>
        </p:nvSpPr>
        <p:spPr>
          <a:xfrm>
            <a:off x="731520" y="2240280"/>
            <a:ext cx="2201418" cy="365760"/>
          </a:xfrm>
          <a:prstGeom prst="rect">
            <a:avLst/>
          </a:prstGeom>
          <a:noFill/>
          <a:ln/>
        </p:spPr>
        <p:txBody>
          <a:bodyPr wrap="square" lIns="0" tIns="0" rIns="0" bIns="0" rtlCol="0" anchor="ctr"/>
          <a:lstStyle/>
          <a:p>
            <a:pPr indent="0" marL="0">
              <a:buNone/>
            </a:pPr>
            <a:r>
              <a:rPr lang="en-US" sz="1800" b="1" dirty="0">
                <a:solidFill>
                  <a:srgbClr val="0071E3"/>
                </a:solidFill>
              </a:rPr>
              <a:t>Data</a:t>
            </a:r>
            <a:endParaRPr lang="en-US" sz="1800" dirty="0"/>
          </a:p>
        </p:txBody>
      </p:sp>
      <p:sp>
        <p:nvSpPr>
          <p:cNvPr id="8" name="Text 5"/>
          <p:cNvSpPr txBox="1"/>
          <p:nvPr/>
        </p:nvSpPr>
        <p:spPr>
          <a:xfrm>
            <a:off x="731520" y="2697480"/>
            <a:ext cx="2201418"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1D1F"/>
                </a:solidFill>
              </a:rPr>
              <a:t>Demo repo: 43 questions (23 dev, 20 test), used to build and tune</a:t>
            </a:r>
            <a:endParaRPr lang="en-US" sz="1300" dirty="0"/>
          </a:p>
          <a:p>
            <a:pPr marL="342900" indent="-342900">
              <a:spcAft>
                <a:spcPts val="600"/>
              </a:spcAft>
              <a:buSzPct val="100000"/>
              <a:buChar char="•"/>
            </a:pPr>
            <a:r>
              <a:rPr lang="en-US" sz="1300" dirty="0">
                <a:solidFill>
                  <a:srgbClr val="1D1D1F"/>
                </a:solidFill>
              </a:rPr>
              <a:t>Held-out real repo: pallets/itsdangerous, 35 questions, 677 commits, 125 issues, 311 PRs</a:t>
            </a:r>
            <a:endParaRPr lang="en-US" sz="1300" dirty="0"/>
          </a:p>
          <a:p>
            <a:pPr marL="342900" indent="-342900">
              <a:spcAft>
                <a:spcPts val="600"/>
              </a:spcAft>
              <a:buSzPct val="100000"/>
              <a:buChar char="•"/>
            </a:pPr>
            <a:r>
              <a:rPr lang="en-US" sz="1300" dirty="0">
                <a:solidFill>
                  <a:srgbClr val="1D1D1F"/>
                </a:solidFill>
              </a:rPr>
              <a:t>Dataset hash b68e5bd3… committed before the run</a:t>
            </a:r>
            <a:endParaRPr lang="en-US" sz="1300" dirty="0"/>
          </a:p>
        </p:txBody>
      </p:sp>
      <p:sp>
        <p:nvSpPr>
          <p:cNvPr id="9" name="Shape 6"/>
          <p:cNvSpPr/>
          <p:nvPr/>
        </p:nvSpPr>
        <p:spPr>
          <a:xfrm>
            <a:off x="3390138" y="2103120"/>
            <a:ext cx="2567178" cy="4023360"/>
          </a:xfrm>
          <a:prstGeom prst="roundRect">
            <a:avLst>
              <a:gd name="adj" fmla="val 3562"/>
            </a:avLst>
          </a:prstGeom>
          <a:solidFill>
            <a:srgbClr val="FFFFFF"/>
          </a:solidFill>
          <a:ln w="9525">
            <a:solidFill>
              <a:srgbClr val="D9D9DE"/>
            </a:solidFill>
            <a:prstDash val="solid"/>
          </a:ln>
        </p:spPr>
      </p:sp>
      <p:sp>
        <p:nvSpPr>
          <p:cNvPr id="10" name="Text 7"/>
          <p:cNvSpPr txBox="1"/>
          <p:nvPr/>
        </p:nvSpPr>
        <p:spPr>
          <a:xfrm>
            <a:off x="3573018" y="2240280"/>
            <a:ext cx="2201418" cy="365760"/>
          </a:xfrm>
          <a:prstGeom prst="rect">
            <a:avLst/>
          </a:prstGeom>
          <a:noFill/>
          <a:ln/>
        </p:spPr>
        <p:txBody>
          <a:bodyPr wrap="square" lIns="0" tIns="0" rIns="0" bIns="0" rtlCol="0" anchor="ctr"/>
          <a:lstStyle/>
          <a:p>
            <a:pPr indent="0" marL="0">
              <a:buNone/>
            </a:pPr>
            <a:r>
              <a:rPr lang="en-US" sz="1800" b="1" dirty="0">
                <a:solidFill>
                  <a:srgbClr val="0071E3"/>
                </a:solidFill>
              </a:rPr>
              <a:t>Metrics</a:t>
            </a:r>
            <a:endParaRPr lang="en-US" sz="1800" dirty="0"/>
          </a:p>
        </p:txBody>
      </p:sp>
      <p:sp>
        <p:nvSpPr>
          <p:cNvPr id="11" name="Text 8"/>
          <p:cNvSpPr txBox="1"/>
          <p:nvPr/>
        </p:nvSpPr>
        <p:spPr>
          <a:xfrm>
            <a:off x="3573018" y="2697480"/>
            <a:ext cx="2201418"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1D1F"/>
                </a:solidFill>
              </a:rPr>
              <a:t>Correctness: share of key facts present (refusal scored for unanswerable)</a:t>
            </a:r>
            <a:endParaRPr lang="en-US" sz="1300" dirty="0"/>
          </a:p>
          <a:p>
            <a:pPr marL="342900" indent="-342900">
              <a:spcAft>
                <a:spcPts val="600"/>
              </a:spcAft>
              <a:buSzPct val="100000"/>
              <a:buChar char="•"/>
            </a:pPr>
            <a:r>
              <a:rPr lang="en-US" sz="1300" dirty="0">
                <a:solidFill>
                  <a:srgbClr val="1D1D1F"/>
                </a:solidFill>
              </a:rPr>
              <a:t>Evidence recall / precision</a:t>
            </a:r>
            <a:endParaRPr lang="en-US" sz="1300" dirty="0"/>
          </a:p>
          <a:p>
            <a:pPr marL="342900" indent="-342900">
              <a:spcAft>
                <a:spcPts val="600"/>
              </a:spcAft>
              <a:buSzPct val="100000"/>
              <a:buChar char="•"/>
            </a:pPr>
            <a:r>
              <a:rPr lang="en-US" sz="1300" dirty="0">
                <a:solidFill>
                  <a:srgbClr val="1D1D1F"/>
                </a:solidFill>
              </a:rPr>
              <a:t>Citation validity, unsupported-sentence ratio</a:t>
            </a:r>
            <a:endParaRPr lang="en-US" sz="1300" dirty="0"/>
          </a:p>
          <a:p>
            <a:pPr marL="342900" indent="-342900">
              <a:spcAft>
                <a:spcPts val="600"/>
              </a:spcAft>
              <a:buSzPct val="100000"/>
              <a:buChar char="•"/>
            </a:pPr>
            <a:r>
              <a:rPr lang="en-US" sz="1300" dirty="0">
                <a:solidFill>
                  <a:srgbClr val="1D1D1F"/>
                </a:solidFill>
              </a:rPr>
              <a:t>Failure tag per wrong answer</a:t>
            </a:r>
            <a:endParaRPr lang="en-US" sz="1300" dirty="0"/>
          </a:p>
        </p:txBody>
      </p:sp>
      <p:sp>
        <p:nvSpPr>
          <p:cNvPr id="12" name="Shape 9"/>
          <p:cNvSpPr/>
          <p:nvPr/>
        </p:nvSpPr>
        <p:spPr>
          <a:xfrm>
            <a:off x="6231636" y="2103120"/>
            <a:ext cx="2567178" cy="4023360"/>
          </a:xfrm>
          <a:prstGeom prst="roundRect">
            <a:avLst>
              <a:gd name="adj" fmla="val 3562"/>
            </a:avLst>
          </a:prstGeom>
          <a:solidFill>
            <a:srgbClr val="FFFFFF"/>
          </a:solidFill>
          <a:ln w="9525">
            <a:solidFill>
              <a:srgbClr val="D9D9DE"/>
            </a:solidFill>
            <a:prstDash val="solid"/>
          </a:ln>
        </p:spPr>
      </p:sp>
      <p:sp>
        <p:nvSpPr>
          <p:cNvPr id="13" name="Text 10"/>
          <p:cNvSpPr txBox="1"/>
          <p:nvPr/>
        </p:nvSpPr>
        <p:spPr>
          <a:xfrm>
            <a:off x="6414516" y="2240280"/>
            <a:ext cx="2201418" cy="365760"/>
          </a:xfrm>
          <a:prstGeom prst="rect">
            <a:avLst/>
          </a:prstGeom>
          <a:noFill/>
          <a:ln/>
        </p:spPr>
        <p:txBody>
          <a:bodyPr wrap="square" lIns="0" tIns="0" rIns="0" bIns="0" rtlCol="0" anchor="ctr"/>
          <a:lstStyle/>
          <a:p>
            <a:pPr indent="0" marL="0">
              <a:buNone/>
            </a:pPr>
            <a:r>
              <a:rPr lang="en-US" sz="1800" b="1" dirty="0">
                <a:solidFill>
                  <a:srgbClr val="0071E3"/>
                </a:solidFill>
              </a:rPr>
              <a:t>Statistics</a:t>
            </a:r>
            <a:endParaRPr lang="en-US" sz="1800" dirty="0"/>
          </a:p>
        </p:txBody>
      </p:sp>
      <p:sp>
        <p:nvSpPr>
          <p:cNvPr id="14" name="Text 11"/>
          <p:cNvSpPr txBox="1"/>
          <p:nvPr/>
        </p:nvSpPr>
        <p:spPr>
          <a:xfrm>
            <a:off x="6414516" y="2697480"/>
            <a:ext cx="2201418"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1D1F"/>
                </a:solidFill>
              </a:rPr>
              <a:t>Bootstrap 95% confidence intervals</a:t>
            </a:r>
            <a:endParaRPr lang="en-US" sz="1300" dirty="0"/>
          </a:p>
          <a:p>
            <a:pPr marL="342900" indent="-342900">
              <a:spcAft>
                <a:spcPts val="600"/>
              </a:spcAft>
              <a:buSzPct val="100000"/>
              <a:buChar char="•"/>
            </a:pPr>
            <a:r>
              <a:rPr lang="en-US" sz="1300" dirty="0">
                <a:solidFill>
                  <a:srgbClr val="1D1D1F"/>
                </a:solidFill>
              </a:rPr>
              <a:t>Paired sign-flip permutation test</a:t>
            </a:r>
            <a:endParaRPr lang="en-US" sz="1300" dirty="0"/>
          </a:p>
          <a:p>
            <a:pPr marL="342900" indent="-342900">
              <a:spcAft>
                <a:spcPts val="600"/>
              </a:spcAft>
              <a:buSzPct val="100000"/>
              <a:buChar char="•"/>
            </a:pPr>
            <a:r>
              <a:rPr lang="en-US" sz="1300" dirty="0">
                <a:solidFill>
                  <a:srgbClr val="1D1D1F"/>
                </a:solidFill>
              </a:rPr>
              <a:t>Cohen’s d_z effect size</a:t>
            </a:r>
            <a:endParaRPr lang="en-US" sz="1300" dirty="0"/>
          </a:p>
          <a:p>
            <a:pPr marL="342900" indent="-342900">
              <a:spcAft>
                <a:spcPts val="600"/>
              </a:spcAft>
              <a:buSzPct val="100000"/>
              <a:buChar char="•"/>
            </a:pPr>
            <a:r>
              <a:rPr lang="en-US" sz="1300" dirty="0">
                <a:solidFill>
                  <a:srgbClr val="1D1D1F"/>
                </a:solidFill>
              </a:rPr>
              <a:t>Kappa vs LLM judges and a hand check</a:t>
            </a:r>
            <a:endParaRPr lang="en-US" sz="1300" dirty="0"/>
          </a:p>
        </p:txBody>
      </p:sp>
      <p:sp>
        <p:nvSpPr>
          <p:cNvPr id="15" name="Shape 12"/>
          <p:cNvSpPr/>
          <p:nvPr/>
        </p:nvSpPr>
        <p:spPr>
          <a:xfrm>
            <a:off x="9073134" y="2103120"/>
            <a:ext cx="2567178" cy="4023360"/>
          </a:xfrm>
          <a:prstGeom prst="roundRect">
            <a:avLst>
              <a:gd name="adj" fmla="val 3562"/>
            </a:avLst>
          </a:prstGeom>
          <a:solidFill>
            <a:srgbClr val="FFFFFF"/>
          </a:solidFill>
          <a:ln w="9525">
            <a:solidFill>
              <a:srgbClr val="D9D9DE"/>
            </a:solidFill>
            <a:prstDash val="solid"/>
          </a:ln>
        </p:spPr>
      </p:sp>
      <p:sp>
        <p:nvSpPr>
          <p:cNvPr id="16" name="Text 13"/>
          <p:cNvSpPr txBox="1"/>
          <p:nvPr/>
        </p:nvSpPr>
        <p:spPr>
          <a:xfrm>
            <a:off x="9256014" y="2240280"/>
            <a:ext cx="2201418" cy="365760"/>
          </a:xfrm>
          <a:prstGeom prst="rect">
            <a:avLst/>
          </a:prstGeom>
          <a:noFill/>
          <a:ln/>
        </p:spPr>
        <p:txBody>
          <a:bodyPr wrap="square" lIns="0" tIns="0" rIns="0" bIns="0" rtlCol="0" anchor="ctr"/>
          <a:lstStyle/>
          <a:p>
            <a:pPr indent="0" marL="0">
              <a:buNone/>
            </a:pPr>
            <a:r>
              <a:rPr lang="en-US" sz="1800" b="1" dirty="0">
                <a:solidFill>
                  <a:srgbClr val="0071E3"/>
                </a:solidFill>
              </a:rPr>
              <a:t>Reproducibility</a:t>
            </a:r>
            <a:endParaRPr lang="en-US" sz="1800" dirty="0"/>
          </a:p>
        </p:txBody>
      </p:sp>
      <p:sp>
        <p:nvSpPr>
          <p:cNvPr id="17" name="Text 14"/>
          <p:cNvSpPr txBox="1"/>
          <p:nvPr/>
        </p:nvSpPr>
        <p:spPr>
          <a:xfrm>
            <a:off x="9256014" y="2697480"/>
            <a:ext cx="2201418"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1D1F"/>
                </a:solidFill>
              </a:rPr>
              <a:t>Temperature 0, seed 42, 300-token cap, 6000-char budget, top-k 8</a:t>
            </a:r>
            <a:endParaRPr lang="en-US" sz="1300" dirty="0"/>
          </a:p>
          <a:p>
            <a:pPr marL="342900" indent="-342900">
              <a:spcAft>
                <a:spcPts val="600"/>
              </a:spcAft>
              <a:buSzPct val="100000"/>
              <a:buChar char="•"/>
            </a:pPr>
            <a:r>
              <a:rPr lang="en-US" sz="1300" dirty="0">
                <a:solidFill>
                  <a:srgbClr val="1D1D1F"/>
                </a:solidFill>
              </a:rPr>
              <a:t>Same prompt shape in every mode</a:t>
            </a:r>
            <a:endParaRPr lang="en-US" sz="1300" dirty="0"/>
          </a:p>
          <a:p>
            <a:pPr marL="342900" indent="-342900">
              <a:spcAft>
                <a:spcPts val="600"/>
              </a:spcAft>
              <a:buSzPct val="100000"/>
              <a:buChar char="•"/>
            </a:pPr>
            <a:r>
              <a:rPr lang="en-US" sz="1300" dirty="0">
                <a:solidFill>
                  <a:srgbClr val="1D1D1F"/>
                </a:solidFill>
              </a:rPr>
              <a:t>Models, settings, dataset hash stored with each run</a:t>
            </a:r>
            <a:endParaRPr lang="en-US" sz="1300" dirty="0"/>
          </a:p>
          <a:p>
            <a:pPr marL="342900" indent="-342900">
              <a:spcAft>
                <a:spcPts val="600"/>
              </a:spcAft>
              <a:buSzPct val="100000"/>
              <a:buChar char="•"/>
            </a:pPr>
            <a:r>
              <a:rPr lang="en-US" sz="1300" dirty="0">
                <a:solidFill>
                  <a:srgbClr val="1D1D1F"/>
                </a:solidFill>
              </a:rPr>
              <a:t>docker compose up; scripts/run_eval.py</a:t>
            </a:r>
            <a:endParaRPr lang="en-US" sz="13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ARCHITECTURE</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Small services, one entry point</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Seven containers behind one gateway. Every service has a health check and runs as a non-root user.</a:t>
            </a:r>
            <a:endParaRPr lang="en-US" sz="1600" dirty="0"/>
          </a:p>
        </p:txBody>
      </p:sp>
      <p:sp>
        <p:nvSpPr>
          <p:cNvPr id="6" name="Shape 3"/>
          <p:cNvSpPr/>
          <p:nvPr/>
        </p:nvSpPr>
        <p:spPr>
          <a:xfrm>
            <a:off x="548640" y="2194560"/>
            <a:ext cx="2194560" cy="1371600"/>
          </a:xfrm>
          <a:prstGeom prst="roundRect">
            <a:avLst>
              <a:gd name="adj" fmla="val 6667"/>
            </a:avLst>
          </a:prstGeom>
          <a:solidFill>
            <a:srgbClr val="FFFFFF"/>
          </a:solidFill>
          <a:ln w="9525">
            <a:solidFill>
              <a:srgbClr val="D9D9DE"/>
            </a:solidFill>
            <a:prstDash val="solid"/>
          </a:ln>
        </p:spPr>
      </p:sp>
      <p:sp>
        <p:nvSpPr>
          <p:cNvPr id="7" name="Text 4"/>
          <p:cNvSpPr txBox="1"/>
          <p:nvPr/>
        </p:nvSpPr>
        <p:spPr>
          <a:xfrm>
            <a:off x="621792" y="2194560"/>
            <a:ext cx="2048256" cy="1371600"/>
          </a:xfrm>
          <a:prstGeom prst="rect">
            <a:avLst/>
          </a:prstGeom>
          <a:noFill/>
          <a:ln/>
        </p:spPr>
        <p:txBody>
          <a:bodyPr wrap="square" lIns="0" tIns="0" rIns="0" bIns="0" rtlCol="0" anchor="ctr"/>
          <a:lstStyle/>
          <a:p>
            <a:pPr algn="ctr" indent="0" marL="0">
              <a:buNone/>
            </a:pPr>
            <a:r>
              <a:rPr lang="en-US" sz="1400" b="1" dirty="0">
                <a:solidFill>
                  <a:srgbClr val="1D1D1F"/>
                </a:solidFill>
              </a:rPr>
              <a:t>Browser</a:t>
            </a:r>
            <a:endParaRPr lang="en-US" sz="1400" dirty="0"/>
          </a:p>
          <a:p>
            <a:pPr algn="ctr" indent="0" marL="0">
              <a:buNone/>
            </a:pPr>
            <a:r>
              <a:rPr lang="en-US" sz="1100" dirty="0">
                <a:solidFill>
                  <a:srgbClr val="55555B"/>
                </a:solidFill>
              </a:rPr>
              <a:t>React + Tailwind (nginx) :5180</a:t>
            </a:r>
            <a:endParaRPr lang="en-US" sz="1400" dirty="0"/>
          </a:p>
        </p:txBody>
      </p:sp>
      <p:sp>
        <p:nvSpPr>
          <p:cNvPr id="8" name="Shape 5"/>
          <p:cNvSpPr/>
          <p:nvPr/>
        </p:nvSpPr>
        <p:spPr>
          <a:xfrm>
            <a:off x="3291840" y="2194560"/>
            <a:ext cx="2194560" cy="1371600"/>
          </a:xfrm>
          <a:prstGeom prst="roundRect">
            <a:avLst>
              <a:gd name="adj" fmla="val 6667"/>
            </a:avLst>
          </a:prstGeom>
          <a:solidFill>
            <a:srgbClr val="E6F0FC"/>
          </a:solidFill>
          <a:ln w="19050">
            <a:solidFill>
              <a:srgbClr val="0071E3"/>
            </a:solidFill>
            <a:prstDash val="solid"/>
          </a:ln>
        </p:spPr>
      </p:sp>
      <p:sp>
        <p:nvSpPr>
          <p:cNvPr id="9" name="Text 6"/>
          <p:cNvSpPr txBox="1"/>
          <p:nvPr/>
        </p:nvSpPr>
        <p:spPr>
          <a:xfrm>
            <a:off x="3364992" y="2194560"/>
            <a:ext cx="2048256" cy="1371600"/>
          </a:xfrm>
          <a:prstGeom prst="rect">
            <a:avLst/>
          </a:prstGeom>
          <a:noFill/>
          <a:ln/>
        </p:spPr>
        <p:txBody>
          <a:bodyPr wrap="square" lIns="0" tIns="0" rIns="0" bIns="0" rtlCol="0" anchor="ctr"/>
          <a:lstStyle/>
          <a:p>
            <a:pPr algn="ctr" indent="0" marL="0">
              <a:buNone/>
            </a:pPr>
            <a:r>
              <a:rPr lang="en-US" sz="1400" b="1" dirty="0">
                <a:solidFill>
                  <a:srgbClr val="1D1D1F"/>
                </a:solidFill>
              </a:rPr>
              <a:t>Gateway :8200</a:t>
            </a:r>
            <a:endParaRPr lang="en-US" sz="1400" dirty="0"/>
          </a:p>
          <a:p>
            <a:pPr algn="ctr" indent="0" marL="0">
              <a:buNone/>
            </a:pPr>
            <a:r>
              <a:rPr lang="en-US" sz="1100" dirty="0">
                <a:solidFill>
                  <a:srgbClr val="55555B"/>
                </a:solidFill>
              </a:rPr>
              <a:t>limits, rate limit, request IDs, API key, /metrics</a:t>
            </a:r>
            <a:endParaRPr lang="en-US" sz="1400" dirty="0"/>
          </a:p>
        </p:txBody>
      </p:sp>
      <p:sp>
        <p:nvSpPr>
          <p:cNvPr id="10" name="Shape 7"/>
          <p:cNvSpPr/>
          <p:nvPr/>
        </p:nvSpPr>
        <p:spPr>
          <a:xfrm>
            <a:off x="6035040" y="2194560"/>
            <a:ext cx="1828800" cy="1371600"/>
          </a:xfrm>
          <a:prstGeom prst="roundRect">
            <a:avLst>
              <a:gd name="adj" fmla="val 6667"/>
            </a:avLst>
          </a:prstGeom>
          <a:solidFill>
            <a:srgbClr val="FFFFFF"/>
          </a:solidFill>
          <a:ln w="9525">
            <a:solidFill>
              <a:srgbClr val="D9D9DE"/>
            </a:solidFill>
            <a:prstDash val="solid"/>
          </a:ln>
        </p:spPr>
      </p:sp>
      <p:sp>
        <p:nvSpPr>
          <p:cNvPr id="11" name="Text 8"/>
          <p:cNvSpPr txBox="1"/>
          <p:nvPr/>
        </p:nvSpPr>
        <p:spPr>
          <a:xfrm>
            <a:off x="6108192" y="2194560"/>
            <a:ext cx="1682496" cy="1371600"/>
          </a:xfrm>
          <a:prstGeom prst="rect">
            <a:avLst/>
          </a:prstGeom>
          <a:noFill/>
          <a:ln/>
        </p:spPr>
        <p:txBody>
          <a:bodyPr wrap="square" lIns="0" tIns="0" rIns="0" bIns="0" rtlCol="0" anchor="ctr"/>
          <a:lstStyle/>
          <a:p>
            <a:pPr algn="ctr" indent="0" marL="0">
              <a:buNone/>
            </a:pPr>
            <a:r>
              <a:rPr lang="en-US" sz="1400" b="1" dirty="0">
                <a:solidFill>
                  <a:srgbClr val="1D1D1F"/>
                </a:solidFill>
              </a:rPr>
              <a:t>Ingest :8201</a:t>
            </a:r>
            <a:endParaRPr lang="en-US" sz="1400" dirty="0"/>
          </a:p>
          <a:p>
            <a:pPr algn="ctr" indent="0" marL="0">
              <a:buNone/>
            </a:pPr>
            <a:r>
              <a:rPr lang="en-US" sz="1100" dirty="0">
                <a:solidFill>
                  <a:srgbClr val="55555B"/>
                </a:solidFill>
              </a:rPr>
              <a:t>git + GitHub API, SQLite</a:t>
            </a:r>
            <a:endParaRPr lang="en-US" sz="1400" dirty="0"/>
          </a:p>
        </p:txBody>
      </p:sp>
      <p:sp>
        <p:nvSpPr>
          <p:cNvPr id="12" name="Shape 9"/>
          <p:cNvSpPr/>
          <p:nvPr/>
        </p:nvSpPr>
        <p:spPr>
          <a:xfrm>
            <a:off x="8138160" y="2194560"/>
            <a:ext cx="1828800" cy="1371600"/>
          </a:xfrm>
          <a:prstGeom prst="roundRect">
            <a:avLst>
              <a:gd name="adj" fmla="val 6667"/>
            </a:avLst>
          </a:prstGeom>
          <a:solidFill>
            <a:srgbClr val="FFFFFF"/>
          </a:solidFill>
          <a:ln w="9525">
            <a:solidFill>
              <a:srgbClr val="D9D9DE"/>
            </a:solidFill>
            <a:prstDash val="solid"/>
          </a:ln>
        </p:spPr>
      </p:sp>
      <p:sp>
        <p:nvSpPr>
          <p:cNvPr id="13" name="Text 10"/>
          <p:cNvSpPr txBox="1"/>
          <p:nvPr/>
        </p:nvSpPr>
        <p:spPr>
          <a:xfrm>
            <a:off x="8211312" y="2194560"/>
            <a:ext cx="1682496" cy="1371600"/>
          </a:xfrm>
          <a:prstGeom prst="rect">
            <a:avLst/>
          </a:prstGeom>
          <a:noFill/>
          <a:ln/>
        </p:spPr>
        <p:txBody>
          <a:bodyPr wrap="square" lIns="0" tIns="0" rIns="0" bIns="0" rtlCol="0" anchor="ctr"/>
          <a:lstStyle/>
          <a:p>
            <a:pPr algn="ctr" indent="0" marL="0">
              <a:buNone/>
            </a:pPr>
            <a:r>
              <a:rPr lang="en-US" sz="1400" b="1" dirty="0">
                <a:solidFill>
                  <a:srgbClr val="1D1D1F"/>
                </a:solidFill>
              </a:rPr>
              <a:t>Orchestrator :8204</a:t>
            </a:r>
            <a:endParaRPr lang="en-US" sz="1400" dirty="0"/>
          </a:p>
          <a:p>
            <a:pPr algn="ctr" indent="0" marL="0">
              <a:buNone/>
            </a:pPr>
            <a:r>
              <a:rPr lang="en-US" sz="1100" dirty="0">
                <a:solidFill>
                  <a:srgbClr val="55555B"/>
                </a:solidFill>
              </a:rPr>
              <a:t>pipeline + guardrails</a:t>
            </a:r>
            <a:endParaRPr lang="en-US" sz="1400" dirty="0"/>
          </a:p>
        </p:txBody>
      </p:sp>
      <p:sp>
        <p:nvSpPr>
          <p:cNvPr id="14" name="Shape 11"/>
          <p:cNvSpPr/>
          <p:nvPr/>
        </p:nvSpPr>
        <p:spPr>
          <a:xfrm>
            <a:off x="10241280" y="2194560"/>
            <a:ext cx="1399032" cy="1371600"/>
          </a:xfrm>
          <a:prstGeom prst="roundRect">
            <a:avLst>
              <a:gd name="adj" fmla="val 6667"/>
            </a:avLst>
          </a:prstGeom>
          <a:solidFill>
            <a:srgbClr val="FFFFFF"/>
          </a:solidFill>
          <a:ln w="9525">
            <a:solidFill>
              <a:srgbClr val="D9D9DE"/>
            </a:solidFill>
            <a:prstDash val="solid"/>
          </a:ln>
        </p:spPr>
      </p:sp>
      <p:sp>
        <p:nvSpPr>
          <p:cNvPr id="15" name="Text 12"/>
          <p:cNvSpPr txBox="1"/>
          <p:nvPr/>
        </p:nvSpPr>
        <p:spPr>
          <a:xfrm>
            <a:off x="10314432" y="2194560"/>
            <a:ext cx="1252728" cy="1371600"/>
          </a:xfrm>
          <a:prstGeom prst="rect">
            <a:avLst/>
          </a:prstGeom>
          <a:noFill/>
          <a:ln/>
        </p:spPr>
        <p:txBody>
          <a:bodyPr wrap="square" lIns="0" tIns="0" rIns="0" bIns="0" rtlCol="0" anchor="ctr"/>
          <a:lstStyle/>
          <a:p>
            <a:pPr algn="ctr" indent="0" marL="0">
              <a:buNone/>
            </a:pPr>
            <a:r>
              <a:rPr lang="en-US" sz="1400" b="1" dirty="0">
                <a:solidFill>
                  <a:srgbClr val="1D1D1F"/>
                </a:solidFill>
              </a:rPr>
              <a:t>Eval :8205</a:t>
            </a:r>
            <a:endParaRPr lang="en-US" sz="1400" dirty="0"/>
          </a:p>
          <a:p>
            <a:pPr algn="ctr" indent="0" marL="0">
              <a:buNone/>
            </a:pPr>
            <a:r>
              <a:rPr lang="en-US" sz="1100" dirty="0">
                <a:solidFill>
                  <a:srgbClr val="55555B"/>
                </a:solidFill>
              </a:rPr>
              <a:t>runs, stats</a:t>
            </a:r>
            <a:endParaRPr lang="en-US" sz="1400" dirty="0"/>
          </a:p>
        </p:txBody>
      </p:sp>
      <p:sp>
        <p:nvSpPr>
          <p:cNvPr id="16" name="Shape 13"/>
          <p:cNvSpPr/>
          <p:nvPr/>
        </p:nvSpPr>
        <p:spPr>
          <a:xfrm>
            <a:off x="1920240" y="4206240"/>
            <a:ext cx="2286000" cy="1371600"/>
          </a:xfrm>
          <a:prstGeom prst="roundRect">
            <a:avLst>
              <a:gd name="adj" fmla="val 6667"/>
            </a:avLst>
          </a:prstGeom>
          <a:solidFill>
            <a:srgbClr val="FFFFFF"/>
          </a:solidFill>
          <a:ln w="9525">
            <a:solidFill>
              <a:srgbClr val="D9D9DE"/>
            </a:solidFill>
            <a:prstDash val="solid"/>
          </a:ln>
        </p:spPr>
      </p:sp>
      <p:sp>
        <p:nvSpPr>
          <p:cNvPr id="17" name="Text 14"/>
          <p:cNvSpPr txBox="1"/>
          <p:nvPr/>
        </p:nvSpPr>
        <p:spPr>
          <a:xfrm>
            <a:off x="1993392" y="4206240"/>
            <a:ext cx="2139696" cy="1371600"/>
          </a:xfrm>
          <a:prstGeom prst="rect">
            <a:avLst/>
          </a:prstGeom>
          <a:noFill/>
          <a:ln/>
        </p:spPr>
        <p:txBody>
          <a:bodyPr wrap="square" lIns="0" tIns="0" rIns="0" bIns="0" rtlCol="0" anchor="ctr"/>
          <a:lstStyle/>
          <a:p>
            <a:pPr algn="ctr" indent="0" marL="0">
              <a:buNone/>
            </a:pPr>
            <a:r>
              <a:rPr lang="en-US" sz="1400" b="1" dirty="0">
                <a:solidFill>
                  <a:srgbClr val="1D1D1F"/>
                </a:solidFill>
              </a:rPr>
              <a:t>RAG :8202</a:t>
            </a:r>
            <a:endParaRPr lang="en-US" sz="1400" dirty="0"/>
          </a:p>
          <a:p>
            <a:pPr algn="ctr" indent="0" marL="0">
              <a:buNone/>
            </a:pPr>
            <a:r>
              <a:rPr lang="en-US" sz="1100" dirty="0">
                <a:solidFill>
                  <a:srgbClr val="55555B"/>
                </a:solidFill>
              </a:rPr>
              <a:t>vector + BM25, rank fusion</a:t>
            </a:r>
            <a:endParaRPr lang="en-US" sz="1400" dirty="0"/>
          </a:p>
        </p:txBody>
      </p:sp>
      <p:sp>
        <p:nvSpPr>
          <p:cNvPr id="18" name="Shape 15"/>
          <p:cNvSpPr/>
          <p:nvPr/>
        </p:nvSpPr>
        <p:spPr>
          <a:xfrm>
            <a:off x="4572000" y="4206240"/>
            <a:ext cx="2286000" cy="1371600"/>
          </a:xfrm>
          <a:prstGeom prst="roundRect">
            <a:avLst>
              <a:gd name="adj" fmla="val 6667"/>
            </a:avLst>
          </a:prstGeom>
          <a:solidFill>
            <a:srgbClr val="FFFFFF"/>
          </a:solidFill>
          <a:ln w="9525">
            <a:solidFill>
              <a:srgbClr val="D9D9DE"/>
            </a:solidFill>
            <a:prstDash val="solid"/>
          </a:ln>
        </p:spPr>
      </p:sp>
      <p:sp>
        <p:nvSpPr>
          <p:cNvPr id="19" name="Text 16"/>
          <p:cNvSpPr txBox="1"/>
          <p:nvPr/>
        </p:nvSpPr>
        <p:spPr>
          <a:xfrm>
            <a:off x="4645152" y="4206240"/>
            <a:ext cx="2139696" cy="1371600"/>
          </a:xfrm>
          <a:prstGeom prst="rect">
            <a:avLst/>
          </a:prstGeom>
          <a:noFill/>
          <a:ln/>
        </p:spPr>
        <p:txBody>
          <a:bodyPr wrap="square" lIns="0" tIns="0" rIns="0" bIns="0" rtlCol="0" anchor="ctr"/>
          <a:lstStyle/>
          <a:p>
            <a:pPr algn="ctr" indent="0" marL="0">
              <a:buNone/>
            </a:pPr>
            <a:r>
              <a:rPr lang="en-US" sz="1400" b="1" dirty="0">
                <a:solidFill>
                  <a:srgbClr val="1D1D1F"/>
                </a:solidFill>
              </a:rPr>
              <a:t>ChromaDB :8206</a:t>
            </a:r>
            <a:endParaRPr lang="en-US" sz="1400" dirty="0"/>
          </a:p>
          <a:p>
            <a:pPr algn="ctr" indent="0" marL="0">
              <a:buNone/>
            </a:pPr>
            <a:r>
              <a:rPr lang="en-US" sz="1100" dirty="0">
                <a:solidFill>
                  <a:srgbClr val="55555B"/>
                </a:solidFill>
              </a:rPr>
              <a:t>vector store</a:t>
            </a:r>
            <a:endParaRPr lang="en-US" sz="1400" dirty="0"/>
          </a:p>
        </p:txBody>
      </p:sp>
      <p:sp>
        <p:nvSpPr>
          <p:cNvPr id="20" name="Shape 17"/>
          <p:cNvSpPr/>
          <p:nvPr/>
        </p:nvSpPr>
        <p:spPr>
          <a:xfrm>
            <a:off x="7223760" y="4206240"/>
            <a:ext cx="2286000" cy="1371600"/>
          </a:xfrm>
          <a:prstGeom prst="roundRect">
            <a:avLst>
              <a:gd name="adj" fmla="val 6667"/>
            </a:avLst>
          </a:prstGeom>
          <a:solidFill>
            <a:srgbClr val="FFFFFF"/>
          </a:solidFill>
          <a:ln w="9525">
            <a:solidFill>
              <a:srgbClr val="D9D9DE"/>
            </a:solidFill>
            <a:prstDash val="solid"/>
          </a:ln>
        </p:spPr>
      </p:sp>
      <p:sp>
        <p:nvSpPr>
          <p:cNvPr id="21" name="Text 18"/>
          <p:cNvSpPr txBox="1"/>
          <p:nvPr/>
        </p:nvSpPr>
        <p:spPr>
          <a:xfrm>
            <a:off x="7296912" y="4206240"/>
            <a:ext cx="2139696" cy="1371600"/>
          </a:xfrm>
          <a:prstGeom prst="rect">
            <a:avLst/>
          </a:prstGeom>
          <a:noFill/>
          <a:ln/>
        </p:spPr>
        <p:txBody>
          <a:bodyPr wrap="square" lIns="0" tIns="0" rIns="0" bIns="0" rtlCol="0" anchor="ctr"/>
          <a:lstStyle/>
          <a:p>
            <a:pPr algn="ctr" indent="0" marL="0">
              <a:buNone/>
            </a:pPr>
            <a:r>
              <a:rPr lang="en-US" sz="1400" b="1" dirty="0">
                <a:solidFill>
                  <a:srgbClr val="1D1D1F"/>
                </a:solidFill>
              </a:rPr>
              <a:t>LLM :8203</a:t>
            </a:r>
            <a:endParaRPr lang="en-US" sz="1400" dirty="0"/>
          </a:p>
          <a:p>
            <a:pPr algn="ctr" indent="0" marL="0">
              <a:buNone/>
            </a:pPr>
            <a:r>
              <a:rPr lang="en-US" sz="1100" dirty="0">
                <a:solidFill>
                  <a:srgbClr val="55555B"/>
                </a:solidFill>
              </a:rPr>
              <a:t>Ollama client + jury</a:t>
            </a:r>
            <a:endParaRPr lang="en-US" sz="1400" dirty="0"/>
          </a:p>
        </p:txBody>
      </p:sp>
      <p:sp>
        <p:nvSpPr>
          <p:cNvPr id="22" name="Shape 19"/>
          <p:cNvSpPr/>
          <p:nvPr/>
        </p:nvSpPr>
        <p:spPr>
          <a:xfrm>
            <a:off x="9875520" y="4206240"/>
            <a:ext cx="1764792" cy="1371600"/>
          </a:xfrm>
          <a:prstGeom prst="roundRect">
            <a:avLst>
              <a:gd name="adj" fmla="val 6667"/>
            </a:avLst>
          </a:prstGeom>
          <a:solidFill>
            <a:srgbClr val="FFFFFF"/>
          </a:solidFill>
          <a:ln w="9525">
            <a:solidFill>
              <a:srgbClr val="D9D9DE"/>
            </a:solidFill>
            <a:prstDash val="solid"/>
          </a:ln>
        </p:spPr>
      </p:sp>
      <p:sp>
        <p:nvSpPr>
          <p:cNvPr id="23" name="Text 20"/>
          <p:cNvSpPr txBox="1"/>
          <p:nvPr/>
        </p:nvSpPr>
        <p:spPr>
          <a:xfrm>
            <a:off x="9948672" y="4206240"/>
            <a:ext cx="1618488" cy="1371600"/>
          </a:xfrm>
          <a:prstGeom prst="rect">
            <a:avLst/>
          </a:prstGeom>
          <a:noFill/>
          <a:ln/>
        </p:spPr>
        <p:txBody>
          <a:bodyPr wrap="square" lIns="0" tIns="0" rIns="0" bIns="0" rtlCol="0" anchor="ctr"/>
          <a:lstStyle/>
          <a:p>
            <a:pPr algn="ctr" indent="0" marL="0">
              <a:buNone/>
            </a:pPr>
            <a:r>
              <a:rPr lang="en-US" sz="1400" b="1" dirty="0">
                <a:solidFill>
                  <a:srgbClr val="1D1D1F"/>
                </a:solidFill>
              </a:rPr>
              <a:t>Ollama (host)</a:t>
            </a:r>
            <a:endParaRPr lang="en-US" sz="1400" dirty="0"/>
          </a:p>
          <a:p>
            <a:pPr algn="ctr" indent="0" marL="0">
              <a:buNone/>
            </a:pPr>
            <a:r>
              <a:rPr lang="en-US" sz="1100" dirty="0">
                <a:solidFill>
                  <a:srgbClr val="55555B"/>
                </a:solidFill>
              </a:rPr>
              <a:t>llama2, codellama, starcoder2, gemma</a:t>
            </a:r>
            <a:endParaRPr lang="en-US" sz="1400" dirty="0"/>
          </a:p>
        </p:txBody>
      </p:sp>
      <p:sp>
        <p:nvSpPr>
          <p:cNvPr id="24" name="Text 21"/>
          <p:cNvSpPr txBox="1"/>
          <p:nvPr/>
        </p:nvSpPr>
        <p:spPr>
          <a:xfrm>
            <a:off x="548640" y="5852160"/>
            <a:ext cx="11091672" cy="365760"/>
          </a:xfrm>
          <a:prstGeom prst="rect">
            <a:avLst/>
          </a:prstGeom>
          <a:noFill/>
          <a:ln/>
        </p:spPr>
        <p:txBody>
          <a:bodyPr wrap="square" lIns="0" tIns="0" rIns="0" bIns="0" rtlCol="0" anchor="ctr"/>
          <a:lstStyle/>
          <a:p>
            <a:pPr indent="0" marL="0">
              <a:buNone/>
            </a:pPr>
            <a:r>
              <a:rPr lang="en-US" sz="1400" dirty="0">
                <a:solidFill>
                  <a:srgbClr val="55555B"/>
                </a:solidFill>
              </a:rPr>
              <a:t>Browser → Gateway → Ingest / Orchestrator / Eval → RAG + LLM → ChromaDB + Ollama</a:t>
            </a:r>
            <a:endParaRPr lang="en-US" sz="14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ONE QUESTION, END TO END</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From question to cited answer</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Guardrails are enforced in code, not by asking a small model to behave.</a:t>
            </a:r>
            <a:endParaRPr lang="en-US" sz="1600" dirty="0"/>
          </a:p>
        </p:txBody>
      </p:sp>
      <p:sp>
        <p:nvSpPr>
          <p:cNvPr id="6" name="Shape 3"/>
          <p:cNvSpPr/>
          <p:nvPr/>
        </p:nvSpPr>
        <p:spPr>
          <a:xfrm>
            <a:off x="548640" y="2148840"/>
            <a:ext cx="2057400" cy="960120"/>
          </a:xfrm>
          <a:prstGeom prst="roundRect">
            <a:avLst>
              <a:gd name="adj" fmla="val 9524"/>
            </a:avLst>
          </a:prstGeom>
          <a:solidFill>
            <a:srgbClr val="FFFFFF"/>
          </a:solidFill>
          <a:ln w="9525">
            <a:solidFill>
              <a:srgbClr val="D9D9DE"/>
            </a:solidFill>
            <a:prstDash val="solid"/>
          </a:ln>
        </p:spPr>
      </p:sp>
      <p:sp>
        <p:nvSpPr>
          <p:cNvPr id="7" name="Text 4"/>
          <p:cNvSpPr txBox="1"/>
          <p:nvPr/>
        </p:nvSpPr>
        <p:spPr>
          <a:xfrm>
            <a:off x="548640" y="214884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1. Safety</a:t>
            </a:r>
            <a:endParaRPr lang="en-US" sz="1500" dirty="0"/>
          </a:p>
          <a:p>
            <a:pPr algn="ctr" indent="0" marL="0">
              <a:buNone/>
            </a:pPr>
            <a:r>
              <a:rPr lang="en-US" sz="1300" b="1" dirty="0">
                <a:solidFill>
                  <a:srgbClr val="0071E3"/>
                </a:solidFill>
              </a:rPr>
              <a:t>G10</a:t>
            </a:r>
            <a:endParaRPr lang="en-US" sz="1500" dirty="0"/>
          </a:p>
        </p:txBody>
      </p:sp>
      <p:sp>
        <p:nvSpPr>
          <p:cNvPr id="8" name="Shape 5"/>
          <p:cNvSpPr/>
          <p:nvPr/>
        </p:nvSpPr>
        <p:spPr>
          <a:xfrm>
            <a:off x="2807208" y="2148840"/>
            <a:ext cx="2057400" cy="960120"/>
          </a:xfrm>
          <a:prstGeom prst="roundRect">
            <a:avLst>
              <a:gd name="adj" fmla="val 9524"/>
            </a:avLst>
          </a:prstGeom>
          <a:solidFill>
            <a:srgbClr val="FFFFFF"/>
          </a:solidFill>
          <a:ln w="9525">
            <a:solidFill>
              <a:srgbClr val="D9D9DE"/>
            </a:solidFill>
            <a:prstDash val="solid"/>
          </a:ln>
        </p:spPr>
      </p:sp>
      <p:sp>
        <p:nvSpPr>
          <p:cNvPr id="9" name="Text 6"/>
          <p:cNvSpPr txBox="1"/>
          <p:nvPr/>
        </p:nvSpPr>
        <p:spPr>
          <a:xfrm>
            <a:off x="2807208" y="214884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2. Retrieve</a:t>
            </a:r>
            <a:endParaRPr lang="en-US" sz="1500" dirty="0"/>
          </a:p>
          <a:p>
            <a:pPr algn="ctr" indent="0" marL="0">
              <a:buNone/>
            </a:pPr>
            <a:r>
              <a:rPr lang="en-US" sz="1300" b="1" dirty="0">
                <a:solidFill>
                  <a:srgbClr val="0071E3"/>
                </a:solidFill>
              </a:rPr>
              <a:t>G8</a:t>
            </a:r>
            <a:endParaRPr lang="en-US" sz="1500" dirty="0"/>
          </a:p>
        </p:txBody>
      </p:sp>
      <p:sp>
        <p:nvSpPr>
          <p:cNvPr id="10" name="Shape 7"/>
          <p:cNvSpPr/>
          <p:nvPr/>
        </p:nvSpPr>
        <p:spPr>
          <a:xfrm>
            <a:off x="5065776" y="2148840"/>
            <a:ext cx="2057400" cy="960120"/>
          </a:xfrm>
          <a:prstGeom prst="roundRect">
            <a:avLst>
              <a:gd name="adj" fmla="val 9524"/>
            </a:avLst>
          </a:prstGeom>
          <a:solidFill>
            <a:srgbClr val="FFFFFF"/>
          </a:solidFill>
          <a:ln w="9525">
            <a:solidFill>
              <a:srgbClr val="D9D9DE"/>
            </a:solidFill>
            <a:prstDash val="solid"/>
          </a:ln>
        </p:spPr>
      </p:sp>
      <p:sp>
        <p:nvSpPr>
          <p:cNvPr id="11" name="Text 8"/>
          <p:cNvSpPr txBox="1"/>
          <p:nvPr/>
        </p:nvSpPr>
        <p:spPr>
          <a:xfrm>
            <a:off x="5065776" y="214884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3. On topic?</a:t>
            </a:r>
            <a:endParaRPr lang="en-US" sz="1500" dirty="0"/>
          </a:p>
          <a:p>
            <a:pPr algn="ctr" indent="0" marL="0">
              <a:buNone/>
            </a:pPr>
            <a:r>
              <a:rPr lang="en-US" sz="1300" b="1" dirty="0">
                <a:solidFill>
                  <a:srgbClr val="0071E3"/>
                </a:solidFill>
              </a:rPr>
              <a:t>G1</a:t>
            </a:r>
            <a:endParaRPr lang="en-US" sz="1500" dirty="0"/>
          </a:p>
        </p:txBody>
      </p:sp>
      <p:sp>
        <p:nvSpPr>
          <p:cNvPr id="12" name="Shape 9"/>
          <p:cNvSpPr/>
          <p:nvPr/>
        </p:nvSpPr>
        <p:spPr>
          <a:xfrm>
            <a:off x="7324344" y="2148840"/>
            <a:ext cx="2057400" cy="960120"/>
          </a:xfrm>
          <a:prstGeom prst="roundRect">
            <a:avLst>
              <a:gd name="adj" fmla="val 9524"/>
            </a:avLst>
          </a:prstGeom>
          <a:solidFill>
            <a:srgbClr val="FFFFFF"/>
          </a:solidFill>
          <a:ln w="9525">
            <a:solidFill>
              <a:srgbClr val="D9D9DE"/>
            </a:solidFill>
            <a:prstDash val="solid"/>
          </a:ln>
        </p:spPr>
      </p:sp>
      <p:sp>
        <p:nvSpPr>
          <p:cNvPr id="13" name="Text 10"/>
          <p:cNvSpPr txBox="1"/>
          <p:nvPr/>
        </p:nvSpPr>
        <p:spPr>
          <a:xfrm>
            <a:off x="7324344" y="214884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4. Enough history?</a:t>
            </a:r>
            <a:endParaRPr lang="en-US" sz="1500" dirty="0"/>
          </a:p>
          <a:p>
            <a:pPr algn="ctr" indent="0" marL="0">
              <a:buNone/>
            </a:pPr>
            <a:r>
              <a:rPr lang="en-US" sz="1300" b="1" dirty="0">
                <a:solidFill>
                  <a:srgbClr val="0071E3"/>
                </a:solidFill>
              </a:rPr>
              <a:t>G2</a:t>
            </a:r>
            <a:endParaRPr lang="en-US" sz="1500" dirty="0"/>
          </a:p>
        </p:txBody>
      </p:sp>
      <p:sp>
        <p:nvSpPr>
          <p:cNvPr id="14" name="Shape 11"/>
          <p:cNvSpPr/>
          <p:nvPr/>
        </p:nvSpPr>
        <p:spPr>
          <a:xfrm>
            <a:off x="9582912" y="2148840"/>
            <a:ext cx="2057400" cy="960120"/>
          </a:xfrm>
          <a:prstGeom prst="roundRect">
            <a:avLst>
              <a:gd name="adj" fmla="val 9524"/>
            </a:avLst>
          </a:prstGeom>
          <a:solidFill>
            <a:srgbClr val="FFFFFF"/>
          </a:solidFill>
          <a:ln w="9525">
            <a:solidFill>
              <a:srgbClr val="D9D9DE"/>
            </a:solidFill>
            <a:prstDash val="solid"/>
          </a:ln>
        </p:spPr>
      </p:sp>
      <p:sp>
        <p:nvSpPr>
          <p:cNvPr id="15" name="Text 12"/>
          <p:cNvSpPr txBox="1"/>
          <p:nvPr/>
        </p:nvSpPr>
        <p:spPr>
          <a:xfrm>
            <a:off x="9582912" y="214884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5. Follow links</a:t>
            </a:r>
            <a:endParaRPr lang="en-US" sz="1500" dirty="0"/>
          </a:p>
        </p:txBody>
      </p:sp>
      <p:sp>
        <p:nvSpPr>
          <p:cNvPr id="16" name="Shape 13"/>
          <p:cNvSpPr/>
          <p:nvPr/>
        </p:nvSpPr>
        <p:spPr>
          <a:xfrm>
            <a:off x="548640" y="3337560"/>
            <a:ext cx="2057400" cy="960120"/>
          </a:xfrm>
          <a:prstGeom prst="roundRect">
            <a:avLst>
              <a:gd name="adj" fmla="val 9524"/>
            </a:avLst>
          </a:prstGeom>
          <a:solidFill>
            <a:srgbClr val="FFFFFF"/>
          </a:solidFill>
          <a:ln w="9525">
            <a:solidFill>
              <a:srgbClr val="D9D9DE"/>
            </a:solidFill>
            <a:prstDash val="solid"/>
          </a:ln>
        </p:spPr>
      </p:sp>
      <p:sp>
        <p:nvSpPr>
          <p:cNvPr id="17" name="Text 14"/>
          <p:cNvSpPr txBox="1"/>
          <p:nvPr/>
        </p:nvSpPr>
        <p:spPr>
          <a:xfrm>
            <a:off x="548640" y="333756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6. Build context</a:t>
            </a:r>
            <a:endParaRPr lang="en-US" sz="1500" dirty="0"/>
          </a:p>
          <a:p>
            <a:pPr algn="ctr" indent="0" marL="0">
              <a:buNone/>
            </a:pPr>
            <a:r>
              <a:rPr lang="en-US" sz="1300" b="1" dirty="0">
                <a:solidFill>
                  <a:srgbClr val="0071E3"/>
                </a:solidFill>
              </a:rPr>
              <a:t>G5</a:t>
            </a:r>
            <a:endParaRPr lang="en-US" sz="1500" dirty="0"/>
          </a:p>
        </p:txBody>
      </p:sp>
      <p:sp>
        <p:nvSpPr>
          <p:cNvPr id="18" name="Shape 15"/>
          <p:cNvSpPr/>
          <p:nvPr/>
        </p:nvSpPr>
        <p:spPr>
          <a:xfrm>
            <a:off x="2807208" y="3337560"/>
            <a:ext cx="2057400" cy="960120"/>
          </a:xfrm>
          <a:prstGeom prst="roundRect">
            <a:avLst>
              <a:gd name="adj" fmla="val 9524"/>
            </a:avLst>
          </a:prstGeom>
          <a:solidFill>
            <a:srgbClr val="FFFFFF"/>
          </a:solidFill>
          <a:ln w="9525">
            <a:solidFill>
              <a:srgbClr val="D9D9DE"/>
            </a:solidFill>
            <a:prstDash val="solid"/>
          </a:ln>
        </p:spPr>
      </p:sp>
      <p:sp>
        <p:nvSpPr>
          <p:cNvPr id="19" name="Text 16"/>
          <p:cNvSpPr txBox="1"/>
          <p:nvPr/>
        </p:nvSpPr>
        <p:spPr>
          <a:xfrm>
            <a:off x="2807208" y="333756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7. Generate</a:t>
            </a:r>
            <a:endParaRPr lang="en-US" sz="1500" dirty="0"/>
          </a:p>
        </p:txBody>
      </p:sp>
      <p:sp>
        <p:nvSpPr>
          <p:cNvPr id="20" name="Shape 17"/>
          <p:cNvSpPr/>
          <p:nvPr/>
        </p:nvSpPr>
        <p:spPr>
          <a:xfrm>
            <a:off x="5065776" y="3337560"/>
            <a:ext cx="2057400" cy="960120"/>
          </a:xfrm>
          <a:prstGeom prst="roundRect">
            <a:avLst>
              <a:gd name="adj" fmla="val 9524"/>
            </a:avLst>
          </a:prstGeom>
          <a:solidFill>
            <a:srgbClr val="FFFFFF"/>
          </a:solidFill>
          <a:ln w="9525">
            <a:solidFill>
              <a:srgbClr val="D9D9DE"/>
            </a:solidFill>
            <a:prstDash val="solid"/>
          </a:ln>
        </p:spPr>
      </p:sp>
      <p:sp>
        <p:nvSpPr>
          <p:cNvPr id="21" name="Text 18"/>
          <p:cNvSpPr txBox="1"/>
          <p:nvPr/>
        </p:nvSpPr>
        <p:spPr>
          <a:xfrm>
            <a:off x="5065776" y="333756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8. Check citations</a:t>
            </a:r>
            <a:endParaRPr lang="en-US" sz="1500" dirty="0"/>
          </a:p>
          <a:p>
            <a:pPr algn="ctr" indent="0" marL="0">
              <a:buNone/>
            </a:pPr>
            <a:r>
              <a:rPr lang="en-US" sz="1300" b="1" dirty="0">
                <a:solidFill>
                  <a:srgbClr val="0071E3"/>
                </a:solidFill>
              </a:rPr>
              <a:t>G3</a:t>
            </a:r>
            <a:endParaRPr lang="en-US" sz="1500" dirty="0"/>
          </a:p>
        </p:txBody>
      </p:sp>
      <p:sp>
        <p:nvSpPr>
          <p:cNvPr id="22" name="Shape 19"/>
          <p:cNvSpPr/>
          <p:nvPr/>
        </p:nvSpPr>
        <p:spPr>
          <a:xfrm>
            <a:off x="7324344" y="3337560"/>
            <a:ext cx="2057400" cy="960120"/>
          </a:xfrm>
          <a:prstGeom prst="roundRect">
            <a:avLst>
              <a:gd name="adj" fmla="val 9524"/>
            </a:avLst>
          </a:prstGeom>
          <a:solidFill>
            <a:srgbClr val="FFFFFF"/>
          </a:solidFill>
          <a:ln w="9525">
            <a:solidFill>
              <a:srgbClr val="D9D9DE"/>
            </a:solidFill>
            <a:prstDash val="solid"/>
          </a:ln>
        </p:spPr>
      </p:sp>
      <p:sp>
        <p:nvSpPr>
          <p:cNvPr id="23" name="Text 20"/>
          <p:cNvSpPr txBox="1"/>
          <p:nvPr/>
        </p:nvSpPr>
        <p:spPr>
          <a:xfrm>
            <a:off x="7324344" y="333756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9. Check grounding</a:t>
            </a:r>
            <a:endParaRPr lang="en-US" sz="1500" dirty="0"/>
          </a:p>
          <a:p>
            <a:pPr algn="ctr" indent="0" marL="0">
              <a:buNone/>
            </a:pPr>
            <a:r>
              <a:rPr lang="en-US" sz="1300" b="1" dirty="0">
                <a:solidFill>
                  <a:srgbClr val="0071E3"/>
                </a:solidFill>
              </a:rPr>
              <a:t>G4</a:t>
            </a:r>
            <a:endParaRPr lang="en-US" sz="1500" dirty="0"/>
          </a:p>
        </p:txBody>
      </p:sp>
      <p:sp>
        <p:nvSpPr>
          <p:cNvPr id="24" name="Shape 21"/>
          <p:cNvSpPr/>
          <p:nvPr/>
        </p:nvSpPr>
        <p:spPr>
          <a:xfrm>
            <a:off x="9582912" y="3337560"/>
            <a:ext cx="2057400" cy="960120"/>
          </a:xfrm>
          <a:prstGeom prst="roundRect">
            <a:avLst>
              <a:gd name="adj" fmla="val 9524"/>
            </a:avLst>
          </a:prstGeom>
          <a:solidFill>
            <a:srgbClr val="FFFFFF"/>
          </a:solidFill>
          <a:ln w="9525">
            <a:solidFill>
              <a:srgbClr val="D9D9DE"/>
            </a:solidFill>
            <a:prstDash val="solid"/>
          </a:ln>
        </p:spPr>
      </p:sp>
      <p:sp>
        <p:nvSpPr>
          <p:cNvPr id="25" name="Text 22"/>
          <p:cNvSpPr txBox="1"/>
          <p:nvPr/>
        </p:nvSpPr>
        <p:spPr>
          <a:xfrm>
            <a:off x="9582912" y="3337560"/>
            <a:ext cx="2057400" cy="960120"/>
          </a:xfrm>
          <a:prstGeom prst="rect">
            <a:avLst/>
          </a:prstGeom>
          <a:noFill/>
          <a:ln/>
        </p:spPr>
        <p:txBody>
          <a:bodyPr wrap="square" lIns="635" tIns="635" rIns="635" bIns="635" rtlCol="0" anchor="ctr"/>
          <a:lstStyle/>
          <a:p>
            <a:pPr algn="ctr" indent="0" marL="0">
              <a:buNone/>
            </a:pPr>
            <a:r>
              <a:rPr lang="en-US" sz="1500" b="1" dirty="0">
                <a:solidFill>
                  <a:srgbClr val="1D1D1F"/>
                </a:solidFill>
              </a:rPr>
              <a:t>10. Redact</a:t>
            </a:r>
            <a:endParaRPr lang="en-US" sz="1500" dirty="0"/>
          </a:p>
          <a:p>
            <a:pPr algn="ctr" indent="0" marL="0">
              <a:buNone/>
            </a:pPr>
            <a:r>
              <a:rPr lang="en-US" sz="1300" b="1" dirty="0">
                <a:solidFill>
                  <a:srgbClr val="0071E3"/>
                </a:solidFill>
              </a:rPr>
              <a:t>G6</a:t>
            </a:r>
            <a:endParaRPr lang="en-US" sz="1500" dirty="0"/>
          </a:p>
        </p:txBody>
      </p:sp>
      <p:sp>
        <p:nvSpPr>
          <p:cNvPr id="26" name="Shape 23"/>
          <p:cNvSpPr/>
          <p:nvPr/>
        </p:nvSpPr>
        <p:spPr>
          <a:xfrm>
            <a:off x="548640" y="4617720"/>
            <a:ext cx="5408676" cy="1600200"/>
          </a:xfrm>
          <a:prstGeom prst="roundRect">
            <a:avLst>
              <a:gd name="adj" fmla="val 571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7" name="Text 24"/>
          <p:cNvSpPr txBox="1"/>
          <p:nvPr/>
        </p:nvSpPr>
        <p:spPr>
          <a:xfrm>
            <a:off x="731520" y="4754880"/>
            <a:ext cx="5042916" cy="1353312"/>
          </a:xfrm>
          <a:prstGeom prst="rect">
            <a:avLst/>
          </a:prstGeom>
          <a:noFill/>
          <a:ln/>
        </p:spPr>
        <p:txBody>
          <a:bodyPr wrap="square" lIns="0" tIns="0" rIns="0" bIns="0" rtlCol="0" anchor="t"/>
          <a:lstStyle/>
          <a:p>
            <a:pPr indent="0" marL="0">
              <a:buNone/>
            </a:pPr>
            <a:r>
              <a:rPr lang="en-US" sz="1400" dirty="0">
                <a:solidFill>
                  <a:srgbClr val="1D1D1F"/>
                </a:solidFill>
              </a:rPr>
              <a:t>G1 off-topic refused with no model call · G2 says “the history doesn’t say” · G3 invented citations stripped · G4 unsupported sentences flagged</a:t>
            </a:r>
            <a:endParaRPr lang="en-US" sz="1400" dirty="0"/>
          </a:p>
        </p:txBody>
      </p:sp>
      <p:sp>
        <p:nvSpPr>
          <p:cNvPr id="28" name="Shape 25"/>
          <p:cNvSpPr/>
          <p:nvPr/>
        </p:nvSpPr>
        <p:spPr>
          <a:xfrm>
            <a:off x="6231636" y="4617720"/>
            <a:ext cx="5408676" cy="1600200"/>
          </a:xfrm>
          <a:prstGeom prst="roundRect">
            <a:avLst>
              <a:gd name="adj" fmla="val 571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9" name="Text 26"/>
          <p:cNvSpPr txBox="1"/>
          <p:nvPr/>
        </p:nvSpPr>
        <p:spPr>
          <a:xfrm>
            <a:off x="6414516" y="4754880"/>
            <a:ext cx="5042916" cy="1353312"/>
          </a:xfrm>
          <a:prstGeom prst="rect">
            <a:avLst/>
          </a:prstGeom>
          <a:noFill/>
          <a:ln/>
        </p:spPr>
        <p:txBody>
          <a:bodyPr wrap="square" lIns="0" tIns="0" rIns="0" bIns="0" rtlCol="0" anchor="t"/>
          <a:lstStyle/>
          <a:p>
            <a:pPr indent="0" marL="0">
              <a:buNone/>
            </a:pPr>
            <a:r>
              <a:rPr lang="en-US" sz="1400" dirty="0">
                <a:solidFill>
                  <a:srgbClr val="1D1D1F"/>
                </a:solidFill>
              </a:rPr>
              <a:t>G5 commit text is untrusted data (prompt injection neutralised) · G6 secrets redacted at ingest and in output · G7 input limits · G8 repo isolation · G9 signed webhooks · G10 unsafe requests refused</a:t>
            </a:r>
            <a:endParaRPr lang="en-US" sz="14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DEVOPS</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Built to be shipped</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Everything below was run for real: images built, stack healthy, pipeline green on GitHub.</a:t>
            </a:r>
            <a:endParaRPr lang="en-US" sz="1600" dirty="0"/>
          </a:p>
        </p:txBody>
      </p:sp>
      <p:sp>
        <p:nvSpPr>
          <p:cNvPr id="6" name="Shape 3"/>
          <p:cNvSpPr/>
          <p:nvPr/>
        </p:nvSpPr>
        <p:spPr>
          <a:xfrm>
            <a:off x="548640" y="214884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7" name="Text 4"/>
          <p:cNvSpPr txBox="1"/>
          <p:nvPr/>
        </p:nvSpPr>
        <p:spPr>
          <a:xfrm>
            <a:off x="731520" y="228600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Containers</a:t>
            </a:r>
            <a:endParaRPr lang="en-US" sz="1800" dirty="0"/>
          </a:p>
        </p:txBody>
      </p:sp>
      <p:sp>
        <p:nvSpPr>
          <p:cNvPr id="8" name="Text 5"/>
          <p:cNvSpPr txBox="1"/>
          <p:nvPr/>
        </p:nvSpPr>
        <p:spPr>
          <a:xfrm>
            <a:off x="731520" y="2697480"/>
            <a:ext cx="3148584" cy="1261872"/>
          </a:xfrm>
          <a:prstGeom prst="rect">
            <a:avLst/>
          </a:prstGeom>
          <a:noFill/>
          <a:ln/>
        </p:spPr>
        <p:txBody>
          <a:bodyPr wrap="square" lIns="0" tIns="0" rIns="0" bIns="0" rtlCol="0" anchor="t"/>
          <a:lstStyle/>
          <a:p>
            <a:pPr indent="0" marL="0">
              <a:buNone/>
            </a:pPr>
            <a:r>
              <a:rPr lang="en-US" sz="1500" dirty="0">
                <a:solidFill>
                  <a:srgbClr val="55555B"/>
                </a:solidFill>
              </a:rPr>
              <a:t>7 multi-stage images, non-root, health checks, read-only filesystems, dropped capabilities</a:t>
            </a:r>
            <a:endParaRPr lang="en-US" sz="1500" dirty="0"/>
          </a:p>
        </p:txBody>
      </p:sp>
      <p:sp>
        <p:nvSpPr>
          <p:cNvPr id="9" name="Shape 6"/>
          <p:cNvSpPr/>
          <p:nvPr/>
        </p:nvSpPr>
        <p:spPr>
          <a:xfrm>
            <a:off x="4337304" y="214884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0" name="Text 7"/>
          <p:cNvSpPr txBox="1"/>
          <p:nvPr/>
        </p:nvSpPr>
        <p:spPr>
          <a:xfrm>
            <a:off x="4520184" y="228600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Compose</a:t>
            </a:r>
            <a:endParaRPr lang="en-US" sz="1800" dirty="0"/>
          </a:p>
        </p:txBody>
      </p:sp>
      <p:sp>
        <p:nvSpPr>
          <p:cNvPr id="11" name="Text 8"/>
          <p:cNvSpPr txBox="1"/>
          <p:nvPr/>
        </p:nvSpPr>
        <p:spPr>
          <a:xfrm>
            <a:off x="4520184" y="2697480"/>
            <a:ext cx="3148584" cy="1261872"/>
          </a:xfrm>
          <a:prstGeom prst="rect">
            <a:avLst/>
          </a:prstGeom>
          <a:noFill/>
          <a:ln/>
        </p:spPr>
        <p:txBody>
          <a:bodyPr wrap="square" lIns="0" tIns="0" rIns="0" bIns="0" rtlCol="0" anchor="t"/>
          <a:lstStyle/>
          <a:p>
            <a:pPr indent="0" marL="0">
              <a:buNone/>
            </a:pPr>
            <a:r>
              <a:rPr lang="en-US" sz="1500" dirty="0">
                <a:solidFill>
                  <a:srgbClr val="55555B"/>
                </a:solidFill>
              </a:rPr>
              <a:t>One base file plus dev, prod, monitoring and demo overrides; Ollama GPU profile; env-driven config</a:t>
            </a:r>
            <a:endParaRPr lang="en-US" sz="1500" dirty="0"/>
          </a:p>
        </p:txBody>
      </p:sp>
      <p:sp>
        <p:nvSpPr>
          <p:cNvPr id="12" name="Shape 9"/>
          <p:cNvSpPr/>
          <p:nvPr/>
        </p:nvSpPr>
        <p:spPr>
          <a:xfrm>
            <a:off x="8125968" y="214884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3" name="Text 10"/>
          <p:cNvSpPr txBox="1"/>
          <p:nvPr/>
        </p:nvSpPr>
        <p:spPr>
          <a:xfrm>
            <a:off x="8308848" y="228600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CI</a:t>
            </a:r>
            <a:endParaRPr lang="en-US" sz="1800" dirty="0"/>
          </a:p>
        </p:txBody>
      </p:sp>
      <p:sp>
        <p:nvSpPr>
          <p:cNvPr id="14" name="Text 11"/>
          <p:cNvSpPr txBox="1"/>
          <p:nvPr/>
        </p:nvSpPr>
        <p:spPr>
          <a:xfrm>
            <a:off x="8308848" y="2697480"/>
            <a:ext cx="3148584" cy="1261872"/>
          </a:xfrm>
          <a:prstGeom prst="rect">
            <a:avLst/>
          </a:prstGeom>
          <a:noFill/>
          <a:ln/>
        </p:spPr>
        <p:txBody>
          <a:bodyPr wrap="square" lIns="0" tIns="0" rIns="0" bIns="0" rtlCol="0" anchor="t"/>
          <a:lstStyle/>
          <a:p>
            <a:pPr indent="0" marL="0">
              <a:buNone/>
            </a:pPr>
            <a:r>
              <a:rPr lang="en-US" sz="1500" dirty="0">
                <a:solidFill>
                  <a:srgbClr val="55555B"/>
                </a:solidFill>
              </a:rPr>
              <a:t>Lint, drift checks, 6 test jobs, frontend build, compose smoke test, end-to-end eval gate</a:t>
            </a:r>
            <a:endParaRPr lang="en-US" sz="1500" dirty="0"/>
          </a:p>
        </p:txBody>
      </p:sp>
      <p:sp>
        <p:nvSpPr>
          <p:cNvPr id="15" name="Shape 12"/>
          <p:cNvSpPr/>
          <p:nvPr/>
        </p:nvSpPr>
        <p:spPr>
          <a:xfrm>
            <a:off x="548640" y="434340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6" name="Text 13"/>
          <p:cNvSpPr txBox="1"/>
          <p:nvPr/>
        </p:nvSpPr>
        <p:spPr>
          <a:xfrm>
            <a:off x="731520" y="448056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Security</a:t>
            </a:r>
            <a:endParaRPr lang="en-US" sz="1800" dirty="0"/>
          </a:p>
        </p:txBody>
      </p:sp>
      <p:sp>
        <p:nvSpPr>
          <p:cNvPr id="17" name="Text 14"/>
          <p:cNvSpPr txBox="1"/>
          <p:nvPr/>
        </p:nvSpPr>
        <p:spPr>
          <a:xfrm>
            <a:off x="731520" y="4892040"/>
            <a:ext cx="3148584" cy="1261872"/>
          </a:xfrm>
          <a:prstGeom prst="rect">
            <a:avLst/>
          </a:prstGeom>
          <a:noFill/>
          <a:ln/>
        </p:spPr>
        <p:txBody>
          <a:bodyPr wrap="square" lIns="0" tIns="0" rIns="0" bIns="0" rtlCol="0" anchor="t"/>
          <a:lstStyle/>
          <a:p>
            <a:pPr indent="0" marL="0">
              <a:buNone/>
            </a:pPr>
            <a:r>
              <a:rPr lang="en-US" sz="1500" dirty="0">
                <a:solidFill>
                  <a:srgbClr val="55555B"/>
                </a:solidFill>
              </a:rPr>
              <a:t>gitleaks secret scan and Trivy dependency/Dockerfile scan on every push; secrets only in .env</a:t>
            </a:r>
            <a:endParaRPr lang="en-US" sz="1500" dirty="0"/>
          </a:p>
        </p:txBody>
      </p:sp>
      <p:sp>
        <p:nvSpPr>
          <p:cNvPr id="18" name="Shape 15"/>
          <p:cNvSpPr/>
          <p:nvPr/>
        </p:nvSpPr>
        <p:spPr>
          <a:xfrm>
            <a:off x="4337304" y="434340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9" name="Text 16"/>
          <p:cNvSpPr txBox="1"/>
          <p:nvPr/>
        </p:nvSpPr>
        <p:spPr>
          <a:xfrm>
            <a:off x="4520184" y="448056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CD</a:t>
            </a:r>
            <a:endParaRPr lang="en-US" sz="1800" dirty="0"/>
          </a:p>
        </p:txBody>
      </p:sp>
      <p:sp>
        <p:nvSpPr>
          <p:cNvPr id="20" name="Text 17"/>
          <p:cNvSpPr txBox="1"/>
          <p:nvPr/>
        </p:nvSpPr>
        <p:spPr>
          <a:xfrm>
            <a:off x="4520184" y="4892040"/>
            <a:ext cx="3148584" cy="1261872"/>
          </a:xfrm>
          <a:prstGeom prst="rect">
            <a:avLst/>
          </a:prstGeom>
          <a:noFill/>
          <a:ln/>
        </p:spPr>
        <p:txBody>
          <a:bodyPr wrap="square" lIns="0" tIns="0" rIns="0" bIns="0" rtlCol="0" anchor="t"/>
          <a:lstStyle/>
          <a:p>
            <a:pPr indent="0" marL="0">
              <a:buNone/>
            </a:pPr>
            <a:r>
              <a:rPr lang="en-US" sz="1500" dirty="0">
                <a:solidFill>
                  <a:srgbClr val="55555B"/>
                </a:solidFill>
              </a:rPr>
              <a:t>Tag v* builds, scans and publishes every image to GHCR, then cuts a release</a:t>
            </a:r>
            <a:endParaRPr lang="en-US" sz="1500" dirty="0"/>
          </a:p>
        </p:txBody>
      </p:sp>
      <p:sp>
        <p:nvSpPr>
          <p:cNvPr id="21" name="Shape 18"/>
          <p:cNvSpPr/>
          <p:nvPr/>
        </p:nvSpPr>
        <p:spPr>
          <a:xfrm>
            <a:off x="8125968" y="4343400"/>
            <a:ext cx="3514344" cy="1920240"/>
          </a:xfrm>
          <a:prstGeom prst="roundRect">
            <a:avLst>
              <a:gd name="adj" fmla="val 476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22" name="Text 19"/>
          <p:cNvSpPr txBox="1"/>
          <p:nvPr/>
        </p:nvSpPr>
        <p:spPr>
          <a:xfrm>
            <a:off x="8308848" y="4480560"/>
            <a:ext cx="3148584" cy="411480"/>
          </a:xfrm>
          <a:prstGeom prst="rect">
            <a:avLst/>
          </a:prstGeom>
          <a:noFill/>
          <a:ln/>
        </p:spPr>
        <p:txBody>
          <a:bodyPr wrap="square" lIns="0" tIns="0" rIns="0" bIns="0" rtlCol="0" anchor="t"/>
          <a:lstStyle/>
          <a:p>
            <a:pPr indent="0" marL="0">
              <a:buNone/>
            </a:pPr>
            <a:r>
              <a:rPr lang="en-US" sz="1800" b="1" dirty="0">
                <a:solidFill>
                  <a:srgbClr val="0071E3"/>
                </a:solidFill>
              </a:rPr>
              <a:t>Monitoring</a:t>
            </a:r>
            <a:endParaRPr lang="en-US" sz="1800" dirty="0"/>
          </a:p>
        </p:txBody>
      </p:sp>
      <p:sp>
        <p:nvSpPr>
          <p:cNvPr id="23" name="Text 20"/>
          <p:cNvSpPr txBox="1"/>
          <p:nvPr/>
        </p:nvSpPr>
        <p:spPr>
          <a:xfrm>
            <a:off x="8308848" y="4892040"/>
            <a:ext cx="3148584" cy="1261872"/>
          </a:xfrm>
          <a:prstGeom prst="rect">
            <a:avLst/>
          </a:prstGeom>
          <a:noFill/>
          <a:ln/>
        </p:spPr>
        <p:txBody>
          <a:bodyPr wrap="square" lIns="0" tIns="0" rIns="0" bIns="0" rtlCol="0" anchor="t"/>
          <a:lstStyle/>
          <a:p>
            <a:pPr indent="0" marL="0">
              <a:buNone/>
            </a:pPr>
            <a:r>
              <a:rPr lang="en-US" sz="1500" dirty="0">
                <a:solidFill>
                  <a:srgbClr val="55555B"/>
                </a:solidFill>
              </a:rPr>
              <a:t>Prometheus + Grafana + Loki run with the demo: live service metrics, alert rules, and evaluation scores and cost as dashboards</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PIPELINE</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CI checks on every push</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All 11 jobs pass on the main branch.</a:t>
            </a:r>
            <a:endParaRPr lang="en-US" sz="1600" dirty="0"/>
          </a:p>
        </p:txBody>
      </p:sp>
      <p:sp>
        <p:nvSpPr>
          <p:cNvPr id="6" name="Shape 3"/>
          <p:cNvSpPr/>
          <p:nvPr/>
        </p:nvSpPr>
        <p:spPr>
          <a:xfrm>
            <a:off x="548640" y="2148840"/>
            <a:ext cx="2606040" cy="566928"/>
          </a:xfrm>
          <a:prstGeom prst="roundRect">
            <a:avLst>
              <a:gd name="adj" fmla="val 16129"/>
            </a:avLst>
          </a:prstGeom>
          <a:solidFill>
            <a:srgbClr val="FFFFFF"/>
          </a:solidFill>
          <a:ln w="9525">
            <a:solidFill>
              <a:srgbClr val="D9D9DE"/>
            </a:solidFill>
            <a:prstDash val="solid"/>
          </a:ln>
        </p:spPr>
      </p:sp>
      <p:sp>
        <p:nvSpPr>
          <p:cNvPr id="7" name="Shape 4"/>
          <p:cNvSpPr/>
          <p:nvPr/>
        </p:nvSpPr>
        <p:spPr>
          <a:xfrm>
            <a:off x="731520" y="2331720"/>
            <a:ext cx="201168" cy="201168"/>
          </a:xfrm>
          <a:prstGeom prst="ellipse">
            <a:avLst/>
          </a:prstGeom>
          <a:solidFill>
            <a:srgbClr val="1E9E6A"/>
          </a:solidFill>
          <a:ln w="12700">
            <a:solidFill>
              <a:srgbClr val="1E9E6A"/>
            </a:solidFill>
            <a:prstDash val="solid"/>
          </a:ln>
        </p:spPr>
      </p:sp>
      <p:sp>
        <p:nvSpPr>
          <p:cNvPr id="8" name="Text 5"/>
          <p:cNvSpPr txBox="1"/>
          <p:nvPr/>
        </p:nvSpPr>
        <p:spPr>
          <a:xfrm>
            <a:off x="1051560" y="2148840"/>
            <a:ext cx="2011680" cy="566928"/>
          </a:xfrm>
          <a:prstGeom prst="rect">
            <a:avLst/>
          </a:prstGeom>
          <a:noFill/>
          <a:ln/>
        </p:spPr>
        <p:txBody>
          <a:bodyPr wrap="square" lIns="0" tIns="0" rIns="0" bIns="0" rtlCol="0" anchor="ctr"/>
          <a:lstStyle/>
          <a:p>
            <a:pPr indent="0" marL="0">
              <a:buNone/>
            </a:pPr>
            <a:r>
              <a:rPr lang="en-US" sz="1400" dirty="0">
                <a:solidFill>
                  <a:srgbClr val="1D1D1F"/>
                </a:solidFill>
              </a:rPr>
              <a:t>lint-and-drift</a:t>
            </a:r>
            <a:endParaRPr lang="en-US" sz="1400" dirty="0"/>
          </a:p>
        </p:txBody>
      </p:sp>
      <p:sp>
        <p:nvSpPr>
          <p:cNvPr id="9" name="Shape 6"/>
          <p:cNvSpPr/>
          <p:nvPr/>
        </p:nvSpPr>
        <p:spPr>
          <a:xfrm>
            <a:off x="3364992" y="2148840"/>
            <a:ext cx="2606040" cy="566928"/>
          </a:xfrm>
          <a:prstGeom prst="roundRect">
            <a:avLst>
              <a:gd name="adj" fmla="val 16129"/>
            </a:avLst>
          </a:prstGeom>
          <a:solidFill>
            <a:srgbClr val="FFFFFF"/>
          </a:solidFill>
          <a:ln w="9525">
            <a:solidFill>
              <a:srgbClr val="D9D9DE"/>
            </a:solidFill>
            <a:prstDash val="solid"/>
          </a:ln>
        </p:spPr>
      </p:sp>
      <p:sp>
        <p:nvSpPr>
          <p:cNvPr id="10" name="Shape 7"/>
          <p:cNvSpPr/>
          <p:nvPr/>
        </p:nvSpPr>
        <p:spPr>
          <a:xfrm>
            <a:off x="3547872" y="2331720"/>
            <a:ext cx="201168" cy="201168"/>
          </a:xfrm>
          <a:prstGeom prst="ellipse">
            <a:avLst/>
          </a:prstGeom>
          <a:solidFill>
            <a:srgbClr val="1E9E6A"/>
          </a:solidFill>
          <a:ln w="12700">
            <a:solidFill>
              <a:srgbClr val="1E9E6A"/>
            </a:solidFill>
            <a:prstDash val="solid"/>
          </a:ln>
        </p:spPr>
      </p:sp>
      <p:sp>
        <p:nvSpPr>
          <p:cNvPr id="11" name="Text 8"/>
          <p:cNvSpPr txBox="1"/>
          <p:nvPr/>
        </p:nvSpPr>
        <p:spPr>
          <a:xfrm>
            <a:off x="3867912" y="2148840"/>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rag</a:t>
            </a:r>
            <a:endParaRPr lang="en-US" sz="1400" dirty="0"/>
          </a:p>
        </p:txBody>
      </p:sp>
      <p:sp>
        <p:nvSpPr>
          <p:cNvPr id="12" name="Shape 9"/>
          <p:cNvSpPr/>
          <p:nvPr/>
        </p:nvSpPr>
        <p:spPr>
          <a:xfrm>
            <a:off x="6181344" y="2148840"/>
            <a:ext cx="2606040" cy="566928"/>
          </a:xfrm>
          <a:prstGeom prst="roundRect">
            <a:avLst>
              <a:gd name="adj" fmla="val 16129"/>
            </a:avLst>
          </a:prstGeom>
          <a:solidFill>
            <a:srgbClr val="FFFFFF"/>
          </a:solidFill>
          <a:ln w="9525">
            <a:solidFill>
              <a:srgbClr val="D9D9DE"/>
            </a:solidFill>
            <a:prstDash val="solid"/>
          </a:ln>
        </p:spPr>
      </p:sp>
      <p:sp>
        <p:nvSpPr>
          <p:cNvPr id="13" name="Shape 10"/>
          <p:cNvSpPr/>
          <p:nvPr/>
        </p:nvSpPr>
        <p:spPr>
          <a:xfrm>
            <a:off x="6364224" y="2331720"/>
            <a:ext cx="201168" cy="201168"/>
          </a:xfrm>
          <a:prstGeom prst="ellipse">
            <a:avLst/>
          </a:prstGeom>
          <a:solidFill>
            <a:srgbClr val="1E9E6A"/>
          </a:solidFill>
          <a:ln w="12700">
            <a:solidFill>
              <a:srgbClr val="1E9E6A"/>
            </a:solidFill>
            <a:prstDash val="solid"/>
          </a:ln>
        </p:spPr>
      </p:sp>
      <p:sp>
        <p:nvSpPr>
          <p:cNvPr id="14" name="Text 11"/>
          <p:cNvSpPr txBox="1"/>
          <p:nvPr/>
        </p:nvSpPr>
        <p:spPr>
          <a:xfrm>
            <a:off x="6684264" y="2148840"/>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llm</a:t>
            </a:r>
            <a:endParaRPr lang="en-US" sz="1400" dirty="0"/>
          </a:p>
        </p:txBody>
      </p:sp>
      <p:sp>
        <p:nvSpPr>
          <p:cNvPr id="15" name="Shape 12"/>
          <p:cNvSpPr/>
          <p:nvPr/>
        </p:nvSpPr>
        <p:spPr>
          <a:xfrm>
            <a:off x="8997696" y="2148840"/>
            <a:ext cx="2606040" cy="566928"/>
          </a:xfrm>
          <a:prstGeom prst="roundRect">
            <a:avLst>
              <a:gd name="adj" fmla="val 16129"/>
            </a:avLst>
          </a:prstGeom>
          <a:solidFill>
            <a:srgbClr val="FFFFFF"/>
          </a:solidFill>
          <a:ln w="9525">
            <a:solidFill>
              <a:srgbClr val="D9D9DE"/>
            </a:solidFill>
            <a:prstDash val="solid"/>
          </a:ln>
        </p:spPr>
      </p:sp>
      <p:sp>
        <p:nvSpPr>
          <p:cNvPr id="16" name="Shape 13"/>
          <p:cNvSpPr/>
          <p:nvPr/>
        </p:nvSpPr>
        <p:spPr>
          <a:xfrm>
            <a:off x="9180576" y="2331720"/>
            <a:ext cx="201168" cy="201168"/>
          </a:xfrm>
          <a:prstGeom prst="ellipse">
            <a:avLst/>
          </a:prstGeom>
          <a:solidFill>
            <a:srgbClr val="1E9E6A"/>
          </a:solidFill>
          <a:ln w="12700">
            <a:solidFill>
              <a:srgbClr val="1E9E6A"/>
            </a:solidFill>
            <a:prstDash val="solid"/>
          </a:ln>
        </p:spPr>
      </p:sp>
      <p:sp>
        <p:nvSpPr>
          <p:cNvPr id="17" name="Text 14"/>
          <p:cNvSpPr txBox="1"/>
          <p:nvPr/>
        </p:nvSpPr>
        <p:spPr>
          <a:xfrm>
            <a:off x="9500616" y="2148840"/>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ingest</a:t>
            </a:r>
            <a:endParaRPr lang="en-US" sz="1400" dirty="0"/>
          </a:p>
        </p:txBody>
      </p:sp>
      <p:sp>
        <p:nvSpPr>
          <p:cNvPr id="18" name="Shape 15"/>
          <p:cNvSpPr/>
          <p:nvPr/>
        </p:nvSpPr>
        <p:spPr>
          <a:xfrm>
            <a:off x="548640" y="2898648"/>
            <a:ext cx="2606040" cy="566928"/>
          </a:xfrm>
          <a:prstGeom prst="roundRect">
            <a:avLst>
              <a:gd name="adj" fmla="val 16129"/>
            </a:avLst>
          </a:prstGeom>
          <a:solidFill>
            <a:srgbClr val="FFFFFF"/>
          </a:solidFill>
          <a:ln w="9525">
            <a:solidFill>
              <a:srgbClr val="D9D9DE"/>
            </a:solidFill>
            <a:prstDash val="solid"/>
          </a:ln>
        </p:spPr>
      </p:sp>
      <p:sp>
        <p:nvSpPr>
          <p:cNvPr id="19" name="Shape 16"/>
          <p:cNvSpPr/>
          <p:nvPr/>
        </p:nvSpPr>
        <p:spPr>
          <a:xfrm>
            <a:off x="731520" y="3081528"/>
            <a:ext cx="201168" cy="201168"/>
          </a:xfrm>
          <a:prstGeom prst="ellipse">
            <a:avLst/>
          </a:prstGeom>
          <a:solidFill>
            <a:srgbClr val="1E9E6A"/>
          </a:solidFill>
          <a:ln w="12700">
            <a:solidFill>
              <a:srgbClr val="1E9E6A"/>
            </a:solidFill>
            <a:prstDash val="solid"/>
          </a:ln>
        </p:spPr>
      </p:sp>
      <p:sp>
        <p:nvSpPr>
          <p:cNvPr id="20" name="Text 17"/>
          <p:cNvSpPr txBox="1"/>
          <p:nvPr/>
        </p:nvSpPr>
        <p:spPr>
          <a:xfrm>
            <a:off x="1051560" y="2898648"/>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orchestrator</a:t>
            </a:r>
            <a:endParaRPr lang="en-US" sz="1400" dirty="0"/>
          </a:p>
        </p:txBody>
      </p:sp>
      <p:sp>
        <p:nvSpPr>
          <p:cNvPr id="21" name="Shape 18"/>
          <p:cNvSpPr/>
          <p:nvPr/>
        </p:nvSpPr>
        <p:spPr>
          <a:xfrm>
            <a:off x="3364992" y="2898648"/>
            <a:ext cx="2606040" cy="566928"/>
          </a:xfrm>
          <a:prstGeom prst="roundRect">
            <a:avLst>
              <a:gd name="adj" fmla="val 16129"/>
            </a:avLst>
          </a:prstGeom>
          <a:solidFill>
            <a:srgbClr val="FFFFFF"/>
          </a:solidFill>
          <a:ln w="9525">
            <a:solidFill>
              <a:srgbClr val="D9D9DE"/>
            </a:solidFill>
            <a:prstDash val="solid"/>
          </a:ln>
        </p:spPr>
      </p:sp>
      <p:sp>
        <p:nvSpPr>
          <p:cNvPr id="22" name="Shape 19"/>
          <p:cNvSpPr/>
          <p:nvPr/>
        </p:nvSpPr>
        <p:spPr>
          <a:xfrm>
            <a:off x="3547872" y="3081528"/>
            <a:ext cx="201168" cy="201168"/>
          </a:xfrm>
          <a:prstGeom prst="ellipse">
            <a:avLst/>
          </a:prstGeom>
          <a:solidFill>
            <a:srgbClr val="1E9E6A"/>
          </a:solidFill>
          <a:ln w="12700">
            <a:solidFill>
              <a:srgbClr val="1E9E6A"/>
            </a:solidFill>
            <a:prstDash val="solid"/>
          </a:ln>
        </p:spPr>
      </p:sp>
      <p:sp>
        <p:nvSpPr>
          <p:cNvPr id="23" name="Text 20"/>
          <p:cNvSpPr txBox="1"/>
          <p:nvPr/>
        </p:nvSpPr>
        <p:spPr>
          <a:xfrm>
            <a:off x="3867912" y="2898648"/>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eval</a:t>
            </a:r>
            <a:endParaRPr lang="en-US" sz="1400" dirty="0"/>
          </a:p>
        </p:txBody>
      </p:sp>
      <p:sp>
        <p:nvSpPr>
          <p:cNvPr id="24" name="Shape 21"/>
          <p:cNvSpPr/>
          <p:nvPr/>
        </p:nvSpPr>
        <p:spPr>
          <a:xfrm>
            <a:off x="6181344" y="2898648"/>
            <a:ext cx="2606040" cy="566928"/>
          </a:xfrm>
          <a:prstGeom prst="roundRect">
            <a:avLst>
              <a:gd name="adj" fmla="val 16129"/>
            </a:avLst>
          </a:prstGeom>
          <a:solidFill>
            <a:srgbClr val="FFFFFF"/>
          </a:solidFill>
          <a:ln w="9525">
            <a:solidFill>
              <a:srgbClr val="D9D9DE"/>
            </a:solidFill>
            <a:prstDash val="solid"/>
          </a:ln>
        </p:spPr>
      </p:sp>
      <p:sp>
        <p:nvSpPr>
          <p:cNvPr id="25" name="Shape 22"/>
          <p:cNvSpPr/>
          <p:nvPr/>
        </p:nvSpPr>
        <p:spPr>
          <a:xfrm>
            <a:off x="6364224" y="3081528"/>
            <a:ext cx="201168" cy="201168"/>
          </a:xfrm>
          <a:prstGeom prst="ellipse">
            <a:avLst/>
          </a:prstGeom>
          <a:solidFill>
            <a:srgbClr val="1E9E6A"/>
          </a:solidFill>
          <a:ln w="12700">
            <a:solidFill>
              <a:srgbClr val="1E9E6A"/>
            </a:solidFill>
            <a:prstDash val="solid"/>
          </a:ln>
        </p:spPr>
      </p:sp>
      <p:sp>
        <p:nvSpPr>
          <p:cNvPr id="26" name="Text 23"/>
          <p:cNvSpPr txBox="1"/>
          <p:nvPr/>
        </p:nvSpPr>
        <p:spPr>
          <a:xfrm>
            <a:off x="6684264" y="2898648"/>
            <a:ext cx="2011680" cy="566928"/>
          </a:xfrm>
          <a:prstGeom prst="rect">
            <a:avLst/>
          </a:prstGeom>
          <a:noFill/>
          <a:ln/>
        </p:spPr>
        <p:txBody>
          <a:bodyPr wrap="square" lIns="0" tIns="0" rIns="0" bIns="0" rtlCol="0" anchor="ctr"/>
          <a:lstStyle/>
          <a:p>
            <a:pPr indent="0" marL="0">
              <a:buNone/>
            </a:pPr>
            <a:r>
              <a:rPr lang="en-US" sz="1400" dirty="0">
                <a:solidFill>
                  <a:srgbClr val="1D1D1F"/>
                </a:solidFill>
              </a:rPr>
              <a:t>test: gateway</a:t>
            </a:r>
            <a:endParaRPr lang="en-US" sz="1400" dirty="0"/>
          </a:p>
        </p:txBody>
      </p:sp>
      <p:sp>
        <p:nvSpPr>
          <p:cNvPr id="27" name="Shape 24"/>
          <p:cNvSpPr/>
          <p:nvPr/>
        </p:nvSpPr>
        <p:spPr>
          <a:xfrm>
            <a:off x="8997696" y="2898648"/>
            <a:ext cx="2606040" cy="566928"/>
          </a:xfrm>
          <a:prstGeom prst="roundRect">
            <a:avLst>
              <a:gd name="adj" fmla="val 16129"/>
            </a:avLst>
          </a:prstGeom>
          <a:solidFill>
            <a:srgbClr val="FFFFFF"/>
          </a:solidFill>
          <a:ln w="9525">
            <a:solidFill>
              <a:srgbClr val="D9D9DE"/>
            </a:solidFill>
            <a:prstDash val="solid"/>
          </a:ln>
        </p:spPr>
      </p:sp>
      <p:sp>
        <p:nvSpPr>
          <p:cNvPr id="28" name="Shape 25"/>
          <p:cNvSpPr/>
          <p:nvPr/>
        </p:nvSpPr>
        <p:spPr>
          <a:xfrm>
            <a:off x="9180576" y="3081528"/>
            <a:ext cx="201168" cy="201168"/>
          </a:xfrm>
          <a:prstGeom prst="ellipse">
            <a:avLst/>
          </a:prstGeom>
          <a:solidFill>
            <a:srgbClr val="1E9E6A"/>
          </a:solidFill>
          <a:ln w="12700">
            <a:solidFill>
              <a:srgbClr val="1E9E6A"/>
            </a:solidFill>
            <a:prstDash val="solid"/>
          </a:ln>
        </p:spPr>
      </p:sp>
      <p:sp>
        <p:nvSpPr>
          <p:cNvPr id="29" name="Text 26"/>
          <p:cNvSpPr txBox="1"/>
          <p:nvPr/>
        </p:nvSpPr>
        <p:spPr>
          <a:xfrm>
            <a:off x="9500616" y="2898648"/>
            <a:ext cx="2011680" cy="566928"/>
          </a:xfrm>
          <a:prstGeom prst="rect">
            <a:avLst/>
          </a:prstGeom>
          <a:noFill/>
          <a:ln/>
        </p:spPr>
        <p:txBody>
          <a:bodyPr wrap="square" lIns="0" tIns="0" rIns="0" bIns="0" rtlCol="0" anchor="ctr"/>
          <a:lstStyle/>
          <a:p>
            <a:pPr indent="0" marL="0">
              <a:buNone/>
            </a:pPr>
            <a:r>
              <a:rPr lang="en-US" sz="1400" dirty="0">
                <a:solidFill>
                  <a:srgbClr val="1D1D1F"/>
                </a:solidFill>
              </a:rPr>
              <a:t>frontend</a:t>
            </a:r>
            <a:endParaRPr lang="en-US" sz="1400" dirty="0"/>
          </a:p>
        </p:txBody>
      </p:sp>
      <p:sp>
        <p:nvSpPr>
          <p:cNvPr id="30" name="Shape 27"/>
          <p:cNvSpPr/>
          <p:nvPr/>
        </p:nvSpPr>
        <p:spPr>
          <a:xfrm>
            <a:off x="548640" y="3648456"/>
            <a:ext cx="2606040" cy="566928"/>
          </a:xfrm>
          <a:prstGeom prst="roundRect">
            <a:avLst>
              <a:gd name="adj" fmla="val 16129"/>
            </a:avLst>
          </a:prstGeom>
          <a:solidFill>
            <a:srgbClr val="FFFFFF"/>
          </a:solidFill>
          <a:ln w="9525">
            <a:solidFill>
              <a:srgbClr val="D9D9DE"/>
            </a:solidFill>
            <a:prstDash val="solid"/>
          </a:ln>
        </p:spPr>
      </p:sp>
      <p:sp>
        <p:nvSpPr>
          <p:cNvPr id="31" name="Shape 28"/>
          <p:cNvSpPr/>
          <p:nvPr/>
        </p:nvSpPr>
        <p:spPr>
          <a:xfrm>
            <a:off x="731520" y="3831336"/>
            <a:ext cx="201168" cy="201168"/>
          </a:xfrm>
          <a:prstGeom prst="ellipse">
            <a:avLst/>
          </a:prstGeom>
          <a:solidFill>
            <a:srgbClr val="1E9E6A"/>
          </a:solidFill>
          <a:ln w="12700">
            <a:solidFill>
              <a:srgbClr val="1E9E6A"/>
            </a:solidFill>
            <a:prstDash val="solid"/>
          </a:ln>
        </p:spPr>
      </p:sp>
      <p:sp>
        <p:nvSpPr>
          <p:cNvPr id="32" name="Text 29"/>
          <p:cNvSpPr txBox="1"/>
          <p:nvPr/>
        </p:nvSpPr>
        <p:spPr>
          <a:xfrm>
            <a:off x="1051560" y="3648456"/>
            <a:ext cx="2011680" cy="566928"/>
          </a:xfrm>
          <a:prstGeom prst="rect">
            <a:avLst/>
          </a:prstGeom>
          <a:noFill/>
          <a:ln/>
        </p:spPr>
        <p:txBody>
          <a:bodyPr wrap="square" lIns="0" tIns="0" rIns="0" bIns="0" rtlCol="0" anchor="ctr"/>
          <a:lstStyle/>
          <a:p>
            <a:pPr indent="0" marL="0">
              <a:buNone/>
            </a:pPr>
            <a:r>
              <a:rPr lang="en-US" sz="1400" dirty="0">
                <a:solidFill>
                  <a:srgbClr val="1D1D1F"/>
                </a:solidFill>
              </a:rPr>
              <a:t>security (gitleaks + Trivy)</a:t>
            </a:r>
            <a:endParaRPr lang="en-US" sz="1400" dirty="0"/>
          </a:p>
        </p:txBody>
      </p:sp>
      <p:sp>
        <p:nvSpPr>
          <p:cNvPr id="33" name="Shape 30"/>
          <p:cNvSpPr/>
          <p:nvPr/>
        </p:nvSpPr>
        <p:spPr>
          <a:xfrm>
            <a:off x="3364992" y="3648456"/>
            <a:ext cx="2606040" cy="566928"/>
          </a:xfrm>
          <a:prstGeom prst="roundRect">
            <a:avLst>
              <a:gd name="adj" fmla="val 16129"/>
            </a:avLst>
          </a:prstGeom>
          <a:solidFill>
            <a:srgbClr val="FFFFFF"/>
          </a:solidFill>
          <a:ln w="9525">
            <a:solidFill>
              <a:srgbClr val="D9D9DE"/>
            </a:solidFill>
            <a:prstDash val="solid"/>
          </a:ln>
        </p:spPr>
      </p:sp>
      <p:sp>
        <p:nvSpPr>
          <p:cNvPr id="34" name="Shape 31"/>
          <p:cNvSpPr/>
          <p:nvPr/>
        </p:nvSpPr>
        <p:spPr>
          <a:xfrm>
            <a:off x="3547872" y="3831336"/>
            <a:ext cx="201168" cy="201168"/>
          </a:xfrm>
          <a:prstGeom prst="ellipse">
            <a:avLst/>
          </a:prstGeom>
          <a:solidFill>
            <a:srgbClr val="1E9E6A"/>
          </a:solidFill>
          <a:ln w="12700">
            <a:solidFill>
              <a:srgbClr val="1E9E6A"/>
            </a:solidFill>
            <a:prstDash val="solid"/>
          </a:ln>
        </p:spPr>
      </p:sp>
      <p:sp>
        <p:nvSpPr>
          <p:cNvPr id="35" name="Text 32"/>
          <p:cNvSpPr txBox="1"/>
          <p:nvPr/>
        </p:nvSpPr>
        <p:spPr>
          <a:xfrm>
            <a:off x="3867912" y="3648456"/>
            <a:ext cx="2011680" cy="566928"/>
          </a:xfrm>
          <a:prstGeom prst="rect">
            <a:avLst/>
          </a:prstGeom>
          <a:noFill/>
          <a:ln/>
        </p:spPr>
        <p:txBody>
          <a:bodyPr wrap="square" lIns="0" tIns="0" rIns="0" bIns="0" rtlCol="0" anchor="ctr"/>
          <a:lstStyle/>
          <a:p>
            <a:pPr indent="0" marL="0">
              <a:buNone/>
            </a:pPr>
            <a:r>
              <a:rPr lang="en-US" sz="1400" dirty="0">
                <a:solidFill>
                  <a:srgbClr val="1D1D1F"/>
                </a:solidFill>
              </a:rPr>
              <a:t>compose-smoke</a:t>
            </a:r>
            <a:endParaRPr lang="en-US" sz="1400" dirty="0"/>
          </a:p>
        </p:txBody>
      </p:sp>
      <p:sp>
        <p:nvSpPr>
          <p:cNvPr id="36" name="Shape 33"/>
          <p:cNvSpPr/>
          <p:nvPr/>
        </p:nvSpPr>
        <p:spPr>
          <a:xfrm>
            <a:off x="6181344" y="3648456"/>
            <a:ext cx="2606040" cy="566928"/>
          </a:xfrm>
          <a:prstGeom prst="roundRect">
            <a:avLst>
              <a:gd name="adj" fmla="val 16129"/>
            </a:avLst>
          </a:prstGeom>
          <a:solidFill>
            <a:srgbClr val="FFFFFF"/>
          </a:solidFill>
          <a:ln w="9525">
            <a:solidFill>
              <a:srgbClr val="D9D9DE"/>
            </a:solidFill>
            <a:prstDash val="solid"/>
          </a:ln>
        </p:spPr>
      </p:sp>
      <p:sp>
        <p:nvSpPr>
          <p:cNvPr id="37" name="Shape 34"/>
          <p:cNvSpPr/>
          <p:nvPr/>
        </p:nvSpPr>
        <p:spPr>
          <a:xfrm>
            <a:off x="6364224" y="3831336"/>
            <a:ext cx="201168" cy="201168"/>
          </a:xfrm>
          <a:prstGeom prst="ellipse">
            <a:avLst/>
          </a:prstGeom>
          <a:solidFill>
            <a:srgbClr val="1E9E6A"/>
          </a:solidFill>
          <a:ln w="12700">
            <a:solidFill>
              <a:srgbClr val="1E9E6A"/>
            </a:solidFill>
            <a:prstDash val="solid"/>
          </a:ln>
        </p:spPr>
      </p:sp>
      <p:sp>
        <p:nvSpPr>
          <p:cNvPr id="38" name="Text 35"/>
          <p:cNvSpPr txBox="1"/>
          <p:nvPr/>
        </p:nvSpPr>
        <p:spPr>
          <a:xfrm>
            <a:off x="6684264" y="3648456"/>
            <a:ext cx="2011680" cy="566928"/>
          </a:xfrm>
          <a:prstGeom prst="rect">
            <a:avLst/>
          </a:prstGeom>
          <a:noFill/>
          <a:ln/>
        </p:spPr>
        <p:txBody>
          <a:bodyPr wrap="square" lIns="0" tIns="0" rIns="0" bIns="0" rtlCol="0" anchor="ctr"/>
          <a:lstStyle/>
          <a:p>
            <a:pPr indent="0" marL="0">
              <a:buNone/>
            </a:pPr>
            <a:r>
              <a:rPr lang="en-US" sz="1400" dirty="0">
                <a:solidFill>
                  <a:srgbClr val="1D1D1F"/>
                </a:solidFill>
              </a:rPr>
              <a:t>eval-gate</a:t>
            </a:r>
            <a:endParaRPr lang="en-US" sz="1400" dirty="0"/>
          </a:p>
        </p:txBody>
      </p:sp>
      <p:sp>
        <p:nvSpPr>
          <p:cNvPr id="39" name="Shape 36"/>
          <p:cNvSpPr/>
          <p:nvPr/>
        </p:nvSpPr>
        <p:spPr>
          <a:xfrm>
            <a:off x="548640" y="4526280"/>
            <a:ext cx="11091672" cy="1600200"/>
          </a:xfrm>
          <a:prstGeom prst="roundRect">
            <a:avLst>
              <a:gd name="adj" fmla="val 571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40" name="Text 37"/>
          <p:cNvSpPr txBox="1"/>
          <p:nvPr/>
        </p:nvSpPr>
        <p:spPr>
          <a:xfrm>
            <a:off x="731520" y="4663440"/>
            <a:ext cx="10725912" cy="411480"/>
          </a:xfrm>
          <a:prstGeom prst="rect">
            <a:avLst/>
          </a:prstGeom>
          <a:noFill/>
          <a:ln/>
        </p:spPr>
        <p:txBody>
          <a:bodyPr wrap="square" lIns="0" tIns="0" rIns="0" bIns="0" rtlCol="0" anchor="t"/>
          <a:lstStyle/>
          <a:p>
            <a:pPr indent="0" marL="0">
              <a:buNone/>
            </a:pPr>
            <a:r>
              <a:rPr lang="en-US" sz="1800" b="1" dirty="0">
                <a:solidFill>
                  <a:srgbClr val="1D1D1F"/>
                </a:solidFill>
              </a:rPr>
              <a:t>Running it for real found real problems</a:t>
            </a:r>
            <a:endParaRPr lang="en-US" sz="1800" dirty="0"/>
          </a:p>
        </p:txBody>
      </p:sp>
      <p:sp>
        <p:nvSpPr>
          <p:cNvPr id="41" name="Text 38"/>
          <p:cNvSpPr txBox="1"/>
          <p:nvPr/>
        </p:nvSpPr>
        <p:spPr>
          <a:xfrm>
            <a:off x="731520" y="5074920"/>
            <a:ext cx="10725912" cy="941832"/>
          </a:xfrm>
          <a:prstGeom prst="rect">
            <a:avLst/>
          </a:prstGeom>
          <a:noFill/>
          <a:ln/>
        </p:spPr>
        <p:txBody>
          <a:bodyPr wrap="square" lIns="0" tIns="0" rIns="0" bIns="0" rtlCol="0" anchor="t"/>
          <a:lstStyle/>
          <a:p>
            <a:pPr indent="0" marL="0">
              <a:buNone/>
            </a:pPr>
            <a:r>
              <a:rPr lang="en-US" sz="1500" dirty="0">
                <a:solidFill>
                  <a:srgbClr val="55555B"/>
                </a:solidFill>
              </a:rPr>
              <a:t>A HIGH vulnerability in a frontend dependency (fixed), Dockerfiles running as root (fixed), a tool-version drift in the linter (pinned), and a wrong script call in the smoke test (fixed).</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CI AND CD</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CI and CD runs are, and what they did</a:t>
            </a:r>
            <a:endParaRPr lang="en-US" sz="3600" dirty="0"/>
          </a:p>
        </p:txBody>
      </p:sp>
      <p:sp>
        <p:nvSpPr>
          <p:cNvPr id="5" name="Shape 2"/>
          <p:cNvSpPr/>
          <p:nvPr/>
        </p:nvSpPr>
        <p:spPr>
          <a:xfrm>
            <a:off x="548640" y="1463040"/>
            <a:ext cx="5760720" cy="1600200"/>
          </a:xfrm>
          <a:prstGeom prst="roundRect">
            <a:avLst>
              <a:gd name="adj" fmla="val 5714"/>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6" name="Text 3"/>
          <p:cNvSpPr txBox="1"/>
          <p:nvPr/>
        </p:nvSpPr>
        <p:spPr>
          <a:xfrm>
            <a:off x="731520" y="1600200"/>
            <a:ext cx="5394960" cy="310896"/>
          </a:xfrm>
          <a:prstGeom prst="rect">
            <a:avLst/>
          </a:prstGeom>
          <a:noFill/>
          <a:ln/>
        </p:spPr>
        <p:txBody>
          <a:bodyPr wrap="square" lIns="0" tIns="0" rIns="0" bIns="0" rtlCol="0" anchor="t"/>
          <a:lstStyle/>
          <a:p>
            <a:pPr indent="0" marL="0">
              <a:buNone/>
            </a:pPr>
            <a:r>
              <a:rPr lang="en-US" sz="1600" b="1" dirty="0">
                <a:solidFill>
                  <a:srgbClr val="0071E3"/>
                </a:solidFill>
              </a:rPr>
              <a:t>CI: continuous integration</a:t>
            </a:r>
            <a:endParaRPr lang="en-US" sz="1600" dirty="0"/>
          </a:p>
        </p:txBody>
      </p:sp>
      <p:sp>
        <p:nvSpPr>
          <p:cNvPr id="7" name="Text 4"/>
          <p:cNvSpPr txBox="1"/>
          <p:nvPr/>
        </p:nvSpPr>
        <p:spPr>
          <a:xfrm>
            <a:off x="731520" y="1911096"/>
            <a:ext cx="5394960" cy="1042416"/>
          </a:xfrm>
          <a:prstGeom prst="rect">
            <a:avLst/>
          </a:prstGeom>
          <a:noFill/>
          <a:ln/>
        </p:spPr>
        <p:txBody>
          <a:bodyPr wrap="square" lIns="0" tIns="0" rIns="0" bIns="0" rtlCol="0" anchor="t"/>
          <a:lstStyle/>
          <a:p>
            <a:pPr indent="0" marL="0">
              <a:buNone/>
            </a:pPr>
            <a:r>
              <a:rPr lang="en-US" sz="1200" dirty="0">
                <a:solidFill>
                  <a:srgbClr val="55555B"/>
                </a:solidFill>
              </a:rPr>
              <a:t>On every push GitHub builds the project and runs all checks automatically: lint and drift checks, 6 test jobs, frontend build, secret and vulnerability scan, compose smoke test, evaluation gate. A red run means the change broke something.</a:t>
            </a:r>
            <a:endParaRPr lang="en-US" sz="1200" dirty="0"/>
          </a:p>
        </p:txBody>
      </p:sp>
      <p:sp>
        <p:nvSpPr>
          <p:cNvPr id="8" name="Shape 5"/>
          <p:cNvSpPr/>
          <p:nvPr/>
        </p:nvSpPr>
        <p:spPr>
          <a:xfrm>
            <a:off x="548640" y="3200400"/>
            <a:ext cx="5760720" cy="1508760"/>
          </a:xfrm>
          <a:prstGeom prst="roundRect">
            <a:avLst>
              <a:gd name="adj" fmla="val 6061"/>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9" name="Text 6"/>
          <p:cNvSpPr txBox="1"/>
          <p:nvPr/>
        </p:nvSpPr>
        <p:spPr>
          <a:xfrm>
            <a:off x="731520" y="3337560"/>
            <a:ext cx="5394960" cy="310896"/>
          </a:xfrm>
          <a:prstGeom prst="rect">
            <a:avLst/>
          </a:prstGeom>
          <a:noFill/>
          <a:ln/>
        </p:spPr>
        <p:txBody>
          <a:bodyPr wrap="square" lIns="0" tIns="0" rIns="0" bIns="0" rtlCol="0" anchor="t"/>
          <a:lstStyle/>
          <a:p>
            <a:pPr indent="0" marL="0">
              <a:buNone/>
            </a:pPr>
            <a:r>
              <a:rPr lang="en-US" sz="1600" b="1" dirty="0">
                <a:solidFill>
                  <a:srgbClr val="0071E3"/>
                </a:solidFill>
              </a:rPr>
              <a:t>CD: continuous delivery</a:t>
            </a:r>
            <a:endParaRPr lang="en-US" sz="1600" dirty="0"/>
          </a:p>
        </p:txBody>
      </p:sp>
      <p:sp>
        <p:nvSpPr>
          <p:cNvPr id="10" name="Text 7"/>
          <p:cNvSpPr txBox="1"/>
          <p:nvPr/>
        </p:nvSpPr>
        <p:spPr>
          <a:xfrm>
            <a:off x="731520" y="3648456"/>
            <a:ext cx="5394960" cy="950976"/>
          </a:xfrm>
          <a:prstGeom prst="rect">
            <a:avLst/>
          </a:prstGeom>
          <a:noFill/>
          <a:ln/>
        </p:spPr>
        <p:txBody>
          <a:bodyPr wrap="square" lIns="0" tIns="0" rIns="0" bIns="0" rtlCol="0" anchor="t"/>
          <a:lstStyle/>
          <a:p>
            <a:pPr indent="0" marL="0">
              <a:buNone/>
            </a:pPr>
            <a:r>
              <a:rPr lang="en-US" sz="1200" dirty="0">
                <a:solidFill>
                  <a:srgbClr val="55555B"/>
                </a:solidFill>
              </a:rPr>
              <a:t>On a version tag (v*) the release workflow builds, scans and publishes the 7 images to GHCR and cuts a release. Configured but not run yet: no tag was pushed, so nothing was published.</a:t>
            </a:r>
            <a:endParaRPr lang="en-US" sz="1200" dirty="0"/>
          </a:p>
        </p:txBody>
      </p:sp>
      <p:sp>
        <p:nvSpPr>
          <p:cNvPr id="11" name="Shape 8"/>
          <p:cNvSpPr/>
          <p:nvPr/>
        </p:nvSpPr>
        <p:spPr>
          <a:xfrm>
            <a:off x="548640" y="4846320"/>
            <a:ext cx="5760720" cy="1417320"/>
          </a:xfrm>
          <a:prstGeom prst="roundRect">
            <a:avLst>
              <a:gd name="adj" fmla="val 645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2" name="Text 9"/>
          <p:cNvSpPr txBox="1"/>
          <p:nvPr/>
        </p:nvSpPr>
        <p:spPr>
          <a:xfrm>
            <a:off x="731520" y="4983480"/>
            <a:ext cx="5394960" cy="310896"/>
          </a:xfrm>
          <a:prstGeom prst="rect">
            <a:avLst/>
          </a:prstGeom>
          <a:noFill/>
          <a:ln/>
        </p:spPr>
        <p:txBody>
          <a:bodyPr wrap="square" lIns="0" tIns="0" rIns="0" bIns="0" rtlCol="0" anchor="t"/>
          <a:lstStyle/>
          <a:p>
            <a:pPr indent="0" marL="0">
              <a:buNone/>
            </a:pPr>
            <a:r>
              <a:rPr lang="en-US" sz="1600" b="1" dirty="0">
                <a:solidFill>
                  <a:srgbClr val="0071E3"/>
                </a:solidFill>
              </a:rPr>
              <a:t>Problems the runs caught</a:t>
            </a:r>
            <a:endParaRPr lang="en-US" sz="1600" dirty="0"/>
          </a:p>
        </p:txBody>
      </p:sp>
      <p:sp>
        <p:nvSpPr>
          <p:cNvPr id="13" name="Text 10"/>
          <p:cNvSpPr txBox="1"/>
          <p:nvPr/>
        </p:nvSpPr>
        <p:spPr>
          <a:xfrm>
            <a:off x="731520" y="5294376"/>
            <a:ext cx="5394960" cy="859536"/>
          </a:xfrm>
          <a:prstGeom prst="rect">
            <a:avLst/>
          </a:prstGeom>
          <a:noFill/>
          <a:ln/>
        </p:spPr>
        <p:txBody>
          <a:bodyPr wrap="square" lIns="0" tIns="0" rIns="0" bIns="0" rtlCol="0" anchor="t"/>
          <a:lstStyle/>
          <a:p>
            <a:pPr indent="0" marL="0">
              <a:buNone/>
            </a:pPr>
            <a:r>
              <a:rPr lang="en-US" sz="1200" dirty="0">
                <a:solidFill>
                  <a:srgbClr val="55555B"/>
                </a:solidFill>
              </a:rPr>
              <a:t>HIGH dependency vulnerability, Dockerfiles running as root, linter drift, wrong script argument, wrong scanner version, and two lint errors in a new script today.</a:t>
            </a:r>
            <a:endParaRPr lang="en-US" sz="1200" dirty="0"/>
          </a:p>
        </p:txBody>
      </p:sp>
      <p:sp>
        <p:nvSpPr>
          <p:cNvPr id="14" name="Shape 11"/>
          <p:cNvSpPr/>
          <p:nvPr/>
        </p:nvSpPr>
        <p:spPr>
          <a:xfrm>
            <a:off x="6583680" y="1463040"/>
            <a:ext cx="2423160" cy="1417320"/>
          </a:xfrm>
          <a:prstGeom prst="roundRect">
            <a:avLst>
              <a:gd name="adj" fmla="val 6452"/>
            </a:avLst>
          </a:prstGeom>
          <a:solidFill>
            <a:srgbClr val="FFFFFF"/>
          </a:solidFill>
          <a:ln w="9525">
            <a:solidFill>
              <a:srgbClr val="D9D9DE"/>
            </a:solidFill>
            <a:prstDash val="solid"/>
          </a:ln>
        </p:spPr>
      </p:sp>
      <p:sp>
        <p:nvSpPr>
          <p:cNvPr id="15" name="Text 12"/>
          <p:cNvSpPr txBox="1"/>
          <p:nvPr/>
        </p:nvSpPr>
        <p:spPr>
          <a:xfrm>
            <a:off x="6720840" y="15727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22</a:t>
            </a:r>
            <a:endParaRPr lang="en-US" sz="3000" dirty="0"/>
          </a:p>
        </p:txBody>
      </p:sp>
      <p:sp>
        <p:nvSpPr>
          <p:cNvPr id="16" name="Text 13"/>
          <p:cNvSpPr txBox="1"/>
          <p:nvPr/>
        </p:nvSpPr>
        <p:spPr>
          <a:xfrm>
            <a:off x="6720840" y="2212848"/>
            <a:ext cx="2148840" cy="594360"/>
          </a:xfrm>
          <a:prstGeom prst="rect">
            <a:avLst/>
          </a:prstGeom>
          <a:noFill/>
          <a:ln/>
        </p:spPr>
        <p:txBody>
          <a:bodyPr wrap="square" lIns="0" tIns="0" rIns="0" bIns="0" rtlCol="0" anchor="t"/>
          <a:lstStyle/>
          <a:p>
            <a:pPr indent="0" marL="0">
              <a:buNone/>
            </a:pPr>
            <a:r>
              <a:rPr lang="en-US" sz="1200" dirty="0">
                <a:solidFill>
                  <a:srgbClr val="55555B"/>
                </a:solidFill>
              </a:rPr>
              <a:t>workflow runs so far</a:t>
            </a:r>
            <a:endParaRPr lang="en-US" sz="1200" dirty="0"/>
          </a:p>
        </p:txBody>
      </p:sp>
      <p:sp>
        <p:nvSpPr>
          <p:cNvPr id="17" name="Shape 14"/>
          <p:cNvSpPr/>
          <p:nvPr/>
        </p:nvSpPr>
        <p:spPr>
          <a:xfrm>
            <a:off x="9144000" y="1463040"/>
            <a:ext cx="2423160" cy="1417320"/>
          </a:xfrm>
          <a:prstGeom prst="roundRect">
            <a:avLst>
              <a:gd name="adj" fmla="val 6452"/>
            </a:avLst>
          </a:prstGeom>
          <a:solidFill>
            <a:srgbClr val="FFFFFF"/>
          </a:solidFill>
          <a:ln w="9525">
            <a:solidFill>
              <a:srgbClr val="D9D9DE"/>
            </a:solidFill>
            <a:prstDash val="solid"/>
          </a:ln>
        </p:spPr>
      </p:sp>
      <p:sp>
        <p:nvSpPr>
          <p:cNvPr id="18" name="Text 15"/>
          <p:cNvSpPr txBox="1"/>
          <p:nvPr/>
        </p:nvSpPr>
        <p:spPr>
          <a:xfrm>
            <a:off x="9281160" y="15727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14</a:t>
            </a:r>
            <a:endParaRPr lang="en-US" sz="3000" dirty="0"/>
          </a:p>
        </p:txBody>
      </p:sp>
      <p:sp>
        <p:nvSpPr>
          <p:cNvPr id="19" name="Text 16"/>
          <p:cNvSpPr txBox="1"/>
          <p:nvPr/>
        </p:nvSpPr>
        <p:spPr>
          <a:xfrm>
            <a:off x="9281160" y="2212848"/>
            <a:ext cx="2148840" cy="594360"/>
          </a:xfrm>
          <a:prstGeom prst="rect">
            <a:avLst/>
          </a:prstGeom>
          <a:noFill/>
          <a:ln/>
        </p:spPr>
        <p:txBody>
          <a:bodyPr wrap="square" lIns="0" tIns="0" rIns="0" bIns="0" rtlCol="0" anchor="t"/>
          <a:lstStyle/>
          <a:p>
            <a:pPr indent="0" marL="0">
              <a:buNone/>
            </a:pPr>
            <a:r>
              <a:rPr lang="en-US" sz="1200" dirty="0">
                <a:solidFill>
                  <a:srgbClr val="55555B"/>
                </a:solidFill>
              </a:rPr>
              <a:t>CI runs passed</a:t>
            </a:r>
            <a:endParaRPr lang="en-US" sz="1200" dirty="0"/>
          </a:p>
        </p:txBody>
      </p:sp>
      <p:sp>
        <p:nvSpPr>
          <p:cNvPr id="20" name="Shape 17"/>
          <p:cNvSpPr/>
          <p:nvPr/>
        </p:nvSpPr>
        <p:spPr>
          <a:xfrm>
            <a:off x="6583680" y="3063240"/>
            <a:ext cx="2423160" cy="1417320"/>
          </a:xfrm>
          <a:prstGeom prst="roundRect">
            <a:avLst>
              <a:gd name="adj" fmla="val 6452"/>
            </a:avLst>
          </a:prstGeom>
          <a:solidFill>
            <a:srgbClr val="FFFFFF"/>
          </a:solidFill>
          <a:ln w="9525">
            <a:solidFill>
              <a:srgbClr val="D9D9DE"/>
            </a:solidFill>
            <a:prstDash val="solid"/>
          </a:ln>
        </p:spPr>
      </p:sp>
      <p:sp>
        <p:nvSpPr>
          <p:cNvPr id="21" name="Text 18"/>
          <p:cNvSpPr txBox="1"/>
          <p:nvPr/>
        </p:nvSpPr>
        <p:spPr>
          <a:xfrm>
            <a:off x="6720840" y="31729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1</a:t>
            </a:r>
            <a:endParaRPr lang="en-US" sz="3000" dirty="0"/>
          </a:p>
        </p:txBody>
      </p:sp>
      <p:sp>
        <p:nvSpPr>
          <p:cNvPr id="22" name="Text 19"/>
          <p:cNvSpPr txBox="1"/>
          <p:nvPr/>
        </p:nvSpPr>
        <p:spPr>
          <a:xfrm>
            <a:off x="6720840" y="3813048"/>
            <a:ext cx="2148840" cy="594360"/>
          </a:xfrm>
          <a:prstGeom prst="rect">
            <a:avLst/>
          </a:prstGeom>
          <a:noFill/>
          <a:ln/>
        </p:spPr>
        <p:txBody>
          <a:bodyPr wrap="square" lIns="0" tIns="0" rIns="0" bIns="0" rtlCol="0" anchor="t"/>
          <a:lstStyle/>
          <a:p>
            <a:pPr indent="0" marL="0">
              <a:buNone/>
            </a:pPr>
            <a:r>
              <a:rPr lang="en-US" sz="1200" dirty="0">
                <a:solidFill>
                  <a:srgbClr val="55555B"/>
                </a:solidFill>
              </a:rPr>
              <a:t>failed (lint, fixed next commit)</a:t>
            </a:r>
            <a:endParaRPr lang="en-US" sz="1200" dirty="0"/>
          </a:p>
        </p:txBody>
      </p:sp>
      <p:sp>
        <p:nvSpPr>
          <p:cNvPr id="23" name="Shape 20"/>
          <p:cNvSpPr/>
          <p:nvPr/>
        </p:nvSpPr>
        <p:spPr>
          <a:xfrm>
            <a:off x="9144000" y="3063240"/>
            <a:ext cx="2423160" cy="1417320"/>
          </a:xfrm>
          <a:prstGeom prst="roundRect">
            <a:avLst>
              <a:gd name="adj" fmla="val 6452"/>
            </a:avLst>
          </a:prstGeom>
          <a:solidFill>
            <a:srgbClr val="FFFFFF"/>
          </a:solidFill>
          <a:ln w="9525">
            <a:solidFill>
              <a:srgbClr val="D9D9DE"/>
            </a:solidFill>
            <a:prstDash val="solid"/>
          </a:ln>
        </p:spPr>
      </p:sp>
      <p:sp>
        <p:nvSpPr>
          <p:cNvPr id="24" name="Text 21"/>
          <p:cNvSpPr txBox="1"/>
          <p:nvPr/>
        </p:nvSpPr>
        <p:spPr>
          <a:xfrm>
            <a:off x="9281160" y="31729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6</a:t>
            </a:r>
            <a:endParaRPr lang="en-US" sz="3000" dirty="0"/>
          </a:p>
        </p:txBody>
      </p:sp>
      <p:sp>
        <p:nvSpPr>
          <p:cNvPr id="25" name="Text 22"/>
          <p:cNvSpPr txBox="1"/>
          <p:nvPr/>
        </p:nvSpPr>
        <p:spPr>
          <a:xfrm>
            <a:off x="9281160" y="3813048"/>
            <a:ext cx="2148840" cy="594360"/>
          </a:xfrm>
          <a:prstGeom prst="rect">
            <a:avLst/>
          </a:prstGeom>
          <a:noFill/>
          <a:ln/>
        </p:spPr>
        <p:txBody>
          <a:bodyPr wrap="square" lIns="0" tIns="0" rIns="0" bIns="0" rtlCol="0" anchor="t"/>
          <a:lstStyle/>
          <a:p>
            <a:pPr indent="0" marL="0">
              <a:buNone/>
            </a:pPr>
            <a:r>
              <a:rPr lang="en-US" sz="1200" dirty="0">
                <a:solidFill>
                  <a:srgbClr val="55555B"/>
                </a:solidFill>
              </a:rPr>
              <a:t>cancelled, superseded by a newer push</a:t>
            </a:r>
            <a:endParaRPr lang="en-US" sz="1200" dirty="0"/>
          </a:p>
        </p:txBody>
      </p:sp>
      <p:sp>
        <p:nvSpPr>
          <p:cNvPr id="26" name="Shape 23"/>
          <p:cNvSpPr/>
          <p:nvPr/>
        </p:nvSpPr>
        <p:spPr>
          <a:xfrm>
            <a:off x="6583680" y="4663440"/>
            <a:ext cx="2423160" cy="1417320"/>
          </a:xfrm>
          <a:prstGeom prst="roundRect">
            <a:avLst>
              <a:gd name="adj" fmla="val 6452"/>
            </a:avLst>
          </a:prstGeom>
          <a:solidFill>
            <a:srgbClr val="FFFFFF"/>
          </a:solidFill>
          <a:ln w="9525">
            <a:solidFill>
              <a:srgbClr val="D9D9DE"/>
            </a:solidFill>
            <a:prstDash val="solid"/>
          </a:ln>
        </p:spPr>
      </p:sp>
      <p:sp>
        <p:nvSpPr>
          <p:cNvPr id="27" name="Text 24"/>
          <p:cNvSpPr txBox="1"/>
          <p:nvPr/>
        </p:nvSpPr>
        <p:spPr>
          <a:xfrm>
            <a:off x="6720840" y="47731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3.1 min</a:t>
            </a:r>
            <a:endParaRPr lang="en-US" sz="3000" dirty="0"/>
          </a:p>
        </p:txBody>
      </p:sp>
      <p:sp>
        <p:nvSpPr>
          <p:cNvPr id="28" name="Text 25"/>
          <p:cNvSpPr txBox="1"/>
          <p:nvPr/>
        </p:nvSpPr>
        <p:spPr>
          <a:xfrm>
            <a:off x="6720840" y="5413248"/>
            <a:ext cx="2148840" cy="594360"/>
          </a:xfrm>
          <a:prstGeom prst="rect">
            <a:avLst/>
          </a:prstGeom>
          <a:noFill/>
          <a:ln/>
        </p:spPr>
        <p:txBody>
          <a:bodyPr wrap="square" lIns="0" tIns="0" rIns="0" bIns="0" rtlCol="0" anchor="t"/>
          <a:lstStyle/>
          <a:p>
            <a:pPr indent="0" marL="0">
              <a:buNone/>
            </a:pPr>
            <a:r>
              <a:rPr lang="en-US" sz="1200" dirty="0">
                <a:solidFill>
                  <a:srgbClr val="55555B"/>
                </a:solidFill>
              </a:rPr>
              <a:t>median CI run, 11 jobs</a:t>
            </a:r>
            <a:endParaRPr lang="en-US" sz="1200" dirty="0"/>
          </a:p>
        </p:txBody>
      </p:sp>
      <p:sp>
        <p:nvSpPr>
          <p:cNvPr id="29" name="Shape 26"/>
          <p:cNvSpPr/>
          <p:nvPr/>
        </p:nvSpPr>
        <p:spPr>
          <a:xfrm>
            <a:off x="9144000" y="4663440"/>
            <a:ext cx="2423160" cy="1417320"/>
          </a:xfrm>
          <a:prstGeom prst="roundRect">
            <a:avLst>
              <a:gd name="adj" fmla="val 6452"/>
            </a:avLst>
          </a:prstGeom>
          <a:solidFill>
            <a:srgbClr val="FFFFFF"/>
          </a:solidFill>
          <a:ln w="9525">
            <a:solidFill>
              <a:srgbClr val="D9D9DE"/>
            </a:solidFill>
            <a:prstDash val="solid"/>
          </a:ln>
        </p:spPr>
      </p:sp>
      <p:sp>
        <p:nvSpPr>
          <p:cNvPr id="30" name="Text 27"/>
          <p:cNvSpPr txBox="1"/>
          <p:nvPr/>
        </p:nvSpPr>
        <p:spPr>
          <a:xfrm>
            <a:off x="9281160" y="4773168"/>
            <a:ext cx="2148840" cy="640080"/>
          </a:xfrm>
          <a:prstGeom prst="rect">
            <a:avLst/>
          </a:prstGeom>
          <a:noFill/>
          <a:ln/>
        </p:spPr>
        <p:txBody>
          <a:bodyPr wrap="square" lIns="0" tIns="0" rIns="0" bIns="0" rtlCol="0" anchor="ctr"/>
          <a:lstStyle/>
          <a:p>
            <a:pPr indent="0" marL="0">
              <a:buNone/>
            </a:pPr>
            <a:r>
              <a:rPr lang="en-US" sz="3000" b="1" dirty="0">
                <a:solidFill>
                  <a:srgbClr val="0071E3"/>
                </a:solidFill>
              </a:rPr>
              <a:t>1</a:t>
            </a:r>
            <a:endParaRPr lang="en-US" sz="3000" dirty="0"/>
          </a:p>
        </p:txBody>
      </p:sp>
      <p:sp>
        <p:nvSpPr>
          <p:cNvPr id="31" name="Text 28"/>
          <p:cNvSpPr txBox="1"/>
          <p:nvPr/>
        </p:nvSpPr>
        <p:spPr>
          <a:xfrm>
            <a:off x="9281160" y="5413248"/>
            <a:ext cx="2148840" cy="594360"/>
          </a:xfrm>
          <a:prstGeom prst="rect">
            <a:avLst/>
          </a:prstGeom>
          <a:noFill/>
          <a:ln/>
        </p:spPr>
        <p:txBody>
          <a:bodyPr wrap="square" lIns="0" tIns="0" rIns="0" bIns="0" rtlCol="0" anchor="t"/>
          <a:lstStyle/>
          <a:p>
            <a:pPr indent="0" marL="0">
              <a:buNone/>
            </a:pPr>
            <a:r>
              <a:rPr lang="en-US" sz="1200" dirty="0">
                <a:solidFill>
                  <a:srgbClr val="55555B"/>
                </a:solidFill>
              </a:rPr>
              <a:t>nightly evaluation run, passed</a:t>
            </a:r>
            <a:endParaRPr lang="en-US" sz="12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PROMETHEUS</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Prometheus was used for</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Prometheus is the metrics database behind the dashboard: it collects numbers from our services on a schedule and keeps them.</a:t>
            </a:r>
            <a:endParaRPr lang="en-US" sz="1600" dirty="0"/>
          </a:p>
        </p:txBody>
      </p:sp>
      <p:sp>
        <p:nvSpPr>
          <p:cNvPr id="6" name="Shape 3"/>
          <p:cNvSpPr/>
          <p:nvPr/>
        </p:nvSpPr>
        <p:spPr>
          <a:xfrm>
            <a:off x="548640" y="2148840"/>
            <a:ext cx="2606040" cy="1325880"/>
          </a:xfrm>
          <a:prstGeom prst="roundRect">
            <a:avLst>
              <a:gd name="adj" fmla="val 6897"/>
            </a:avLst>
          </a:prstGeom>
          <a:solidFill>
            <a:srgbClr val="FFFFFF"/>
          </a:solidFill>
          <a:ln w="9525">
            <a:solidFill>
              <a:srgbClr val="D9D9DE"/>
            </a:solidFill>
            <a:prstDash val="solid"/>
          </a:ln>
        </p:spPr>
      </p:sp>
      <p:sp>
        <p:nvSpPr>
          <p:cNvPr id="7" name="Text 4"/>
          <p:cNvSpPr txBox="1"/>
          <p:nvPr/>
        </p:nvSpPr>
        <p:spPr>
          <a:xfrm>
            <a:off x="658368" y="2148840"/>
            <a:ext cx="2386584" cy="1325880"/>
          </a:xfrm>
          <a:prstGeom prst="rect">
            <a:avLst/>
          </a:prstGeom>
          <a:noFill/>
          <a:ln/>
        </p:spPr>
        <p:txBody>
          <a:bodyPr wrap="square" lIns="0" tIns="0" rIns="0" bIns="0" rtlCol="0" anchor="ctr"/>
          <a:lstStyle/>
          <a:p>
            <a:pPr indent="0" marL="0">
              <a:buNone/>
            </a:pPr>
            <a:r>
              <a:rPr lang="en-US" sz="1500" b="1" dirty="0">
                <a:solidFill>
                  <a:srgbClr val="1D1D1F"/>
                </a:solidFill>
              </a:rPr>
              <a:t>Gateway /metrics</a:t>
            </a:r>
            <a:endParaRPr lang="en-US" sz="1500" dirty="0"/>
          </a:p>
          <a:p>
            <a:pPr indent="0" marL="0">
              <a:buNone/>
            </a:pPr>
            <a:r>
              <a:rPr lang="en-US" sz="1200" dirty="0">
                <a:solidFill>
                  <a:srgbClr val="55555B"/>
                </a:solidFill>
              </a:rPr>
              <a:t>requests, latency, guardrails, tokens, refusals; every 15 s</a:t>
            </a:r>
            <a:endParaRPr lang="en-US" sz="1500" dirty="0"/>
          </a:p>
        </p:txBody>
      </p:sp>
      <p:sp>
        <p:nvSpPr>
          <p:cNvPr id="8" name="Shape 5"/>
          <p:cNvSpPr/>
          <p:nvPr/>
        </p:nvSpPr>
        <p:spPr>
          <a:xfrm>
            <a:off x="3376879" y="2148840"/>
            <a:ext cx="2606040" cy="1325880"/>
          </a:xfrm>
          <a:prstGeom prst="roundRect">
            <a:avLst>
              <a:gd name="adj" fmla="val 6897"/>
            </a:avLst>
          </a:prstGeom>
          <a:solidFill>
            <a:srgbClr val="FFFFFF"/>
          </a:solidFill>
          <a:ln w="9525">
            <a:solidFill>
              <a:srgbClr val="D9D9DE"/>
            </a:solidFill>
            <a:prstDash val="solid"/>
          </a:ln>
        </p:spPr>
      </p:sp>
      <p:sp>
        <p:nvSpPr>
          <p:cNvPr id="9" name="Text 6"/>
          <p:cNvSpPr txBox="1"/>
          <p:nvPr/>
        </p:nvSpPr>
        <p:spPr>
          <a:xfrm>
            <a:off x="3486607" y="2148840"/>
            <a:ext cx="2386584" cy="1325880"/>
          </a:xfrm>
          <a:prstGeom prst="rect">
            <a:avLst/>
          </a:prstGeom>
          <a:noFill/>
          <a:ln/>
        </p:spPr>
        <p:txBody>
          <a:bodyPr wrap="square" lIns="0" tIns="0" rIns="0" bIns="0" rtlCol="0" anchor="ctr"/>
          <a:lstStyle/>
          <a:p>
            <a:pPr indent="0" marL="0">
              <a:buNone/>
            </a:pPr>
            <a:r>
              <a:rPr lang="en-US" sz="1500" b="1" dirty="0">
                <a:solidFill>
                  <a:srgbClr val="1D1D1F"/>
                </a:solidFill>
              </a:rPr>
              <a:t>Eval service /metrics</a:t>
            </a:r>
            <a:endParaRPr lang="en-US" sz="1500" dirty="0"/>
          </a:p>
          <a:p>
            <a:pPr indent="0" marL="0">
              <a:buNone/>
            </a:pPr>
            <a:r>
              <a:rPr lang="en-US" sz="1200" dirty="0">
                <a:solidFill>
                  <a:srgbClr val="55555B"/>
                </a:solidFill>
              </a:rPr>
              <a:t>evaluation scores from stored runs; every 30 s</a:t>
            </a:r>
            <a:endParaRPr lang="en-US" sz="1500" dirty="0"/>
          </a:p>
        </p:txBody>
      </p:sp>
      <p:sp>
        <p:nvSpPr>
          <p:cNvPr id="10" name="Shape 7"/>
          <p:cNvSpPr/>
          <p:nvPr/>
        </p:nvSpPr>
        <p:spPr>
          <a:xfrm>
            <a:off x="6205118" y="2148840"/>
            <a:ext cx="2606040" cy="1325880"/>
          </a:xfrm>
          <a:prstGeom prst="roundRect">
            <a:avLst>
              <a:gd name="adj" fmla="val 6897"/>
            </a:avLst>
          </a:prstGeom>
          <a:solidFill>
            <a:srgbClr val="E6F0FC"/>
          </a:solidFill>
          <a:ln w="19050">
            <a:solidFill>
              <a:srgbClr val="0071E3"/>
            </a:solidFill>
            <a:prstDash val="solid"/>
          </a:ln>
        </p:spPr>
      </p:sp>
      <p:sp>
        <p:nvSpPr>
          <p:cNvPr id="11" name="Text 8"/>
          <p:cNvSpPr txBox="1"/>
          <p:nvPr/>
        </p:nvSpPr>
        <p:spPr>
          <a:xfrm>
            <a:off x="6314846" y="2148840"/>
            <a:ext cx="2386584" cy="1325880"/>
          </a:xfrm>
          <a:prstGeom prst="rect">
            <a:avLst/>
          </a:prstGeom>
          <a:noFill/>
          <a:ln/>
        </p:spPr>
        <p:txBody>
          <a:bodyPr wrap="square" lIns="0" tIns="0" rIns="0" bIns="0" rtlCol="0" anchor="ctr"/>
          <a:lstStyle/>
          <a:p>
            <a:pPr indent="0" marL="0">
              <a:buNone/>
            </a:pPr>
            <a:r>
              <a:rPr lang="en-US" sz="1500" b="1" dirty="0">
                <a:solidFill>
                  <a:srgbClr val="1D1D1F"/>
                </a:solidFill>
              </a:rPr>
              <a:t>Prometheus :9090</a:t>
            </a:r>
            <a:endParaRPr lang="en-US" sz="1500" dirty="0"/>
          </a:p>
          <a:p>
            <a:pPr indent="0" marL="0">
              <a:buNone/>
            </a:pPr>
            <a:r>
              <a:rPr lang="en-US" sz="1200" dirty="0">
                <a:solidFill>
                  <a:srgbClr val="55555B"/>
                </a:solidFill>
              </a:rPr>
              <a:t>stores 15 days of time series; evaluates alert rules</a:t>
            </a:r>
            <a:endParaRPr lang="en-US" sz="1500" dirty="0"/>
          </a:p>
        </p:txBody>
      </p:sp>
      <p:sp>
        <p:nvSpPr>
          <p:cNvPr id="12" name="Shape 9"/>
          <p:cNvSpPr/>
          <p:nvPr/>
        </p:nvSpPr>
        <p:spPr>
          <a:xfrm>
            <a:off x="9033358" y="2148840"/>
            <a:ext cx="2606040" cy="1325880"/>
          </a:xfrm>
          <a:prstGeom prst="roundRect">
            <a:avLst>
              <a:gd name="adj" fmla="val 6897"/>
            </a:avLst>
          </a:prstGeom>
          <a:solidFill>
            <a:srgbClr val="FFFFFF"/>
          </a:solidFill>
          <a:ln w="9525">
            <a:solidFill>
              <a:srgbClr val="D9D9DE"/>
            </a:solidFill>
            <a:prstDash val="solid"/>
          </a:ln>
        </p:spPr>
      </p:sp>
      <p:sp>
        <p:nvSpPr>
          <p:cNvPr id="13" name="Text 10"/>
          <p:cNvSpPr txBox="1"/>
          <p:nvPr/>
        </p:nvSpPr>
        <p:spPr>
          <a:xfrm>
            <a:off x="9143086" y="2148840"/>
            <a:ext cx="2386584" cy="1325880"/>
          </a:xfrm>
          <a:prstGeom prst="rect">
            <a:avLst/>
          </a:prstGeom>
          <a:noFill/>
          <a:ln/>
        </p:spPr>
        <p:txBody>
          <a:bodyPr wrap="square" lIns="0" tIns="0" rIns="0" bIns="0" rtlCol="0" anchor="ctr"/>
          <a:lstStyle/>
          <a:p>
            <a:pPr indent="0" marL="0">
              <a:buNone/>
            </a:pPr>
            <a:r>
              <a:rPr lang="en-US" sz="1500" b="1" dirty="0">
                <a:solidFill>
                  <a:srgbClr val="1D1D1F"/>
                </a:solidFill>
              </a:rPr>
              <a:t>Grafana :3000</a:t>
            </a:r>
            <a:endParaRPr lang="en-US" sz="1500" dirty="0"/>
          </a:p>
          <a:p>
            <a:pPr indent="0" marL="0">
              <a:buNone/>
            </a:pPr>
            <a:r>
              <a:rPr lang="en-US" sz="1200" dirty="0">
                <a:solidFill>
                  <a:srgbClr val="55555B"/>
                </a:solidFill>
              </a:rPr>
              <a:t>queries Prometheus and Loki and draws the dashboard</a:t>
            </a:r>
            <a:endParaRPr lang="en-US" sz="1500" dirty="0"/>
          </a:p>
        </p:txBody>
      </p:sp>
      <p:sp>
        <p:nvSpPr>
          <p:cNvPr id="14" name="Shape 11"/>
          <p:cNvSpPr/>
          <p:nvPr/>
        </p:nvSpPr>
        <p:spPr>
          <a:xfrm>
            <a:off x="548640" y="3703320"/>
            <a:ext cx="5486400" cy="2514600"/>
          </a:xfrm>
          <a:prstGeom prst="roundRect">
            <a:avLst>
              <a:gd name="adj" fmla="val 3636"/>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5" name="Text 12"/>
          <p:cNvSpPr txBox="1"/>
          <p:nvPr/>
        </p:nvSpPr>
        <p:spPr>
          <a:xfrm>
            <a:off x="731520" y="3840480"/>
            <a:ext cx="5120640" cy="310896"/>
          </a:xfrm>
          <a:prstGeom prst="rect">
            <a:avLst/>
          </a:prstGeom>
          <a:noFill/>
          <a:ln/>
        </p:spPr>
        <p:txBody>
          <a:bodyPr wrap="square" lIns="0" tIns="0" rIns="0" bIns="0" rtlCol="0" anchor="t"/>
          <a:lstStyle/>
          <a:p>
            <a:pPr indent="0" marL="0">
              <a:buNone/>
            </a:pPr>
            <a:r>
              <a:rPr lang="en-US" sz="1500" b="1" dirty="0">
                <a:solidFill>
                  <a:srgbClr val="0071E3"/>
                </a:solidFill>
              </a:rPr>
              <a:t>16 metric families collected</a:t>
            </a:r>
            <a:endParaRPr lang="en-US" sz="1500" dirty="0"/>
          </a:p>
        </p:txBody>
      </p:sp>
      <p:sp>
        <p:nvSpPr>
          <p:cNvPr id="16" name="Text 13"/>
          <p:cNvSpPr txBox="1"/>
          <p:nvPr/>
        </p:nvSpPr>
        <p:spPr>
          <a:xfrm>
            <a:off x="731520" y="4151376"/>
            <a:ext cx="5120640" cy="1956816"/>
          </a:xfrm>
          <a:prstGeom prst="rect">
            <a:avLst/>
          </a:prstGeom>
          <a:noFill/>
          <a:ln/>
        </p:spPr>
        <p:txBody>
          <a:bodyPr wrap="square" lIns="0" tIns="0" rIns="0" bIns="0" rtlCol="0" anchor="t"/>
          <a:lstStyle/>
          <a:p>
            <a:pPr indent="0" marL="0">
              <a:buNone/>
            </a:pPr>
            <a:r>
              <a:rPr lang="en-US" sz="1200" dirty="0">
                <a:solidFill>
                  <a:srgbClr val="55555B"/>
                </a:solidFill>
              </a:rPr>
              <a:t>Gateway (5): requests by route and status, request-time histogram, guardrail triggers G1 to G10, LLM tokens in and out, refusals by type.</a:t>
            </a:r>
            <a:endParaRPr lang="en-US" sz="1200" dirty="0"/>
          </a:p>
          <a:p>
            <a:pPr indent="0" marL="0">
              <a:buNone/>
            </a:pPr>
            <a:r>
              <a:rPr lang="en-US" sz="1200" dirty="0">
                <a:solidFill>
                  <a:srgbClr val="55555B"/>
                </a:solidFill>
              </a:rPr>
              <a:t>Evaluation (11): correctness (per category and overall, with CI), history effect, verdict, failure taxonomy, jury score, run progress, quality metrics, latency, tokens.</a:t>
            </a:r>
            <a:endParaRPr lang="en-US" sz="1200" dirty="0"/>
          </a:p>
        </p:txBody>
      </p:sp>
      <p:sp>
        <p:nvSpPr>
          <p:cNvPr id="17" name="Shape 14"/>
          <p:cNvSpPr/>
          <p:nvPr/>
        </p:nvSpPr>
        <p:spPr>
          <a:xfrm>
            <a:off x="6153912" y="3703320"/>
            <a:ext cx="5486400" cy="2514600"/>
          </a:xfrm>
          <a:prstGeom prst="roundRect">
            <a:avLst>
              <a:gd name="adj" fmla="val 3636"/>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8" name="Text 15"/>
          <p:cNvSpPr txBox="1"/>
          <p:nvPr/>
        </p:nvSpPr>
        <p:spPr>
          <a:xfrm>
            <a:off x="6336792" y="3840480"/>
            <a:ext cx="5120640" cy="310896"/>
          </a:xfrm>
          <a:prstGeom prst="rect">
            <a:avLst/>
          </a:prstGeom>
          <a:noFill/>
          <a:ln/>
        </p:spPr>
        <p:txBody>
          <a:bodyPr wrap="square" lIns="0" tIns="0" rIns="0" bIns="0" rtlCol="0" anchor="t"/>
          <a:lstStyle/>
          <a:p>
            <a:pPr indent="0" marL="0">
              <a:buNone/>
            </a:pPr>
            <a:r>
              <a:rPr lang="en-US" sz="1500" b="1" dirty="0">
                <a:solidFill>
                  <a:srgbClr val="0071E3"/>
                </a:solidFill>
              </a:rPr>
              <a:t>3 alert rules (all healthy, none firing)</a:t>
            </a:r>
            <a:endParaRPr lang="en-US" sz="1500" dirty="0"/>
          </a:p>
        </p:txBody>
      </p:sp>
      <p:sp>
        <p:nvSpPr>
          <p:cNvPr id="19" name="Text 16"/>
          <p:cNvSpPr txBox="1"/>
          <p:nvPr/>
        </p:nvSpPr>
        <p:spPr>
          <a:xfrm>
            <a:off x="6336792" y="4151376"/>
            <a:ext cx="5120640" cy="1956816"/>
          </a:xfrm>
          <a:prstGeom prst="rect">
            <a:avLst/>
          </a:prstGeom>
          <a:noFill/>
          <a:ln/>
        </p:spPr>
        <p:txBody>
          <a:bodyPr wrap="square" lIns="0" tIns="0" rIns="0" bIns="0" rtlCol="0" anchor="t"/>
          <a:lstStyle/>
          <a:p>
            <a:pPr indent="0" marL="0">
              <a:buNone/>
            </a:pPr>
            <a:r>
              <a:rPr lang="en-US" sz="1200" dirty="0">
                <a:solidFill>
                  <a:srgbClr val="55555B"/>
                </a:solidFill>
              </a:rPr>
              <a:t>GatewayDown: the gateway is unreachable for 1 minute.</a:t>
            </a:r>
            <a:endParaRPr lang="en-US" sz="1200" dirty="0"/>
          </a:p>
          <a:p>
            <a:pPr indent="0" marL="0">
              <a:buNone/>
            </a:pPr>
            <a:r>
              <a:rPr lang="en-US" sz="1200" dirty="0">
                <a:solidFill>
                  <a:srgbClr val="55555B"/>
                </a:solidFill>
              </a:rPr>
              <a:t>HighErrorRate: more than 5% of gateway requests fail (5xx) over 5 minutes.</a:t>
            </a:r>
            <a:endParaRPr lang="en-US" sz="1200" dirty="0"/>
          </a:p>
          <a:p>
            <a:pPr indent="0" marL="0">
              <a:buNone/>
            </a:pPr>
            <a:r>
              <a:rPr lang="en-US" sz="1200" dirty="0">
                <a:solidFill>
                  <a:srgbClr val="55555B"/>
                </a:solidFill>
              </a:rPr>
              <a:t>SlowAsk: p95 of /ask latency above 60 s for 10 minutes.</a:t>
            </a:r>
            <a:endParaRPr lang="en-US" sz="12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GRAFANA</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the Grafana dashboards showed</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Everything the dashboard showed, with the numbers. Live figures come from a handful of demo questions, not a load test.</a:t>
            </a:r>
            <a:endParaRPr lang="en-US" sz="1600" dirty="0"/>
          </a:p>
        </p:txBody>
      </p:sp>
      <p:sp>
        <p:nvSpPr>
          <p:cNvPr id="6" name="Shape 3"/>
          <p:cNvSpPr/>
          <p:nvPr/>
        </p:nvSpPr>
        <p:spPr>
          <a:xfrm>
            <a:off x="548640" y="2057400"/>
            <a:ext cx="3514344" cy="4160520"/>
          </a:xfrm>
          <a:prstGeom prst="roundRect">
            <a:avLst>
              <a:gd name="adj" fmla="val 260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7" name="Text 4"/>
          <p:cNvSpPr txBox="1"/>
          <p:nvPr/>
        </p:nvSpPr>
        <p:spPr>
          <a:xfrm>
            <a:off x="731520" y="2194560"/>
            <a:ext cx="3148584" cy="365760"/>
          </a:xfrm>
          <a:prstGeom prst="rect">
            <a:avLst/>
          </a:prstGeom>
          <a:noFill/>
          <a:ln/>
        </p:spPr>
        <p:txBody>
          <a:bodyPr wrap="square" lIns="0" tIns="0" rIns="0" bIns="0" rtlCol="0" anchor="t"/>
          <a:lstStyle/>
          <a:p>
            <a:pPr indent="0" marL="0">
              <a:buNone/>
            </a:pPr>
            <a:r>
              <a:rPr lang="en-US" sz="1500" b="1" dirty="0">
                <a:solidFill>
                  <a:srgbClr val="0071E3"/>
                </a:solidFill>
              </a:rPr>
              <a:t>Evaluation results (run #8)</a:t>
            </a:r>
            <a:endParaRPr lang="en-US" sz="1500" dirty="0"/>
          </a:p>
        </p:txBody>
      </p:sp>
      <p:sp>
        <p:nvSpPr>
          <p:cNvPr id="8" name="Text 5"/>
          <p:cNvSpPr txBox="1"/>
          <p:nvPr/>
        </p:nvSpPr>
        <p:spPr>
          <a:xfrm>
            <a:off x="731520" y="2560320"/>
            <a:ext cx="3148584" cy="3547872"/>
          </a:xfrm>
          <a:prstGeom prst="rect">
            <a:avLst/>
          </a:prstGeom>
          <a:noFill/>
          <a:ln/>
        </p:spPr>
        <p:txBody>
          <a:bodyPr wrap="square" lIns="0" tIns="0" rIns="0" bIns="0" rtlCol="0" anchor="t"/>
          <a:lstStyle/>
          <a:p>
            <a:pPr indent="0" marL="0">
              <a:buNone/>
            </a:pPr>
            <a:r>
              <a:rPr lang="en-US" sz="1200" dirty="0">
                <a:solidFill>
                  <a:srgbClr val="55555B"/>
                </a:solidFill>
              </a:rPr>
              <a:t>Correctness no ctx / code only / code + history: llama2 20 / 54 / 82%, codellama 13 / 49 / 68%, starcoder2 14 / 29 / 24%.</a:t>
            </a:r>
            <a:endParaRPr lang="en-US" sz="1200" dirty="0"/>
          </a:p>
          <a:p>
            <a:pPr indent="0" marL="0">
              <a:buNone/>
            </a:pPr>
            <a:r>
              <a:rPr lang="en-US" sz="1200" dirty="0">
                <a:solidFill>
                  <a:srgbClr val="55555B"/>
                </a:solidFill>
              </a:rPr>
              <a:t>History effect: +0.319, +0.278, -0.021. Verdict: useful for the two 7B models, inconclusive for starcoder2.</a:t>
            </a:r>
            <a:endParaRPr lang="en-US" sz="1200" dirty="0"/>
          </a:p>
          <a:p>
            <a:pPr indent="0" marL="0">
              <a:buNone/>
            </a:pPr>
            <a:r>
              <a:rPr lang="en-US" sz="1200" dirty="0">
                <a:solidFill>
                  <a:srgbClr val="55555B"/>
                </a:solidFill>
              </a:rPr>
              <a:t>Retrieval misses: 11 / 10 / 16 with code only, 3 / 2 / 6 with history.</a:t>
            </a:r>
            <a:endParaRPr lang="en-US" sz="1200" dirty="0"/>
          </a:p>
          <a:p>
            <a:pPr indent="0" marL="0">
              <a:buNone/>
            </a:pPr>
            <a:r>
              <a:rPr lang="en-US" sz="1200" dirty="0">
                <a:solidFill>
                  <a:srgbClr val="55555B"/>
                </a:solidFill>
              </a:rPr>
              <a:t>The gemma:2b jury scored about 100%: too lenient.</a:t>
            </a:r>
            <a:endParaRPr lang="en-US" sz="1200" dirty="0"/>
          </a:p>
        </p:txBody>
      </p:sp>
      <p:sp>
        <p:nvSpPr>
          <p:cNvPr id="9" name="Shape 6"/>
          <p:cNvSpPr/>
          <p:nvPr/>
        </p:nvSpPr>
        <p:spPr>
          <a:xfrm>
            <a:off x="4337304" y="2057400"/>
            <a:ext cx="3514344" cy="4160520"/>
          </a:xfrm>
          <a:prstGeom prst="roundRect">
            <a:avLst>
              <a:gd name="adj" fmla="val 260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0" name="Text 7"/>
          <p:cNvSpPr txBox="1"/>
          <p:nvPr/>
        </p:nvSpPr>
        <p:spPr>
          <a:xfrm>
            <a:off x="4520184" y="2194560"/>
            <a:ext cx="3148584" cy="365760"/>
          </a:xfrm>
          <a:prstGeom prst="rect">
            <a:avLst/>
          </a:prstGeom>
          <a:noFill/>
          <a:ln/>
        </p:spPr>
        <p:txBody>
          <a:bodyPr wrap="square" lIns="0" tIns="0" rIns="0" bIns="0" rtlCol="0" anchor="t"/>
          <a:lstStyle/>
          <a:p>
            <a:pPr indent="0" marL="0">
              <a:buNone/>
            </a:pPr>
            <a:r>
              <a:rPr lang="en-US" sz="1500" b="1" dirty="0">
                <a:solidFill>
                  <a:srgbClr val="0071E3"/>
                </a:solidFill>
              </a:rPr>
              <a:t>Quality, retrieval and cost</a:t>
            </a:r>
            <a:endParaRPr lang="en-US" sz="1500" dirty="0"/>
          </a:p>
        </p:txBody>
      </p:sp>
      <p:sp>
        <p:nvSpPr>
          <p:cNvPr id="11" name="Text 8"/>
          <p:cNvSpPr txBox="1"/>
          <p:nvPr/>
        </p:nvSpPr>
        <p:spPr>
          <a:xfrm>
            <a:off x="4520184" y="2560320"/>
            <a:ext cx="3148584" cy="3547872"/>
          </a:xfrm>
          <a:prstGeom prst="rect">
            <a:avLst/>
          </a:prstGeom>
          <a:noFill/>
          <a:ln/>
        </p:spPr>
        <p:txBody>
          <a:bodyPr wrap="square" lIns="0" tIns="0" rIns="0" bIns="0" rtlCol="0" anchor="t"/>
          <a:lstStyle/>
          <a:p>
            <a:pPr indent="0" marL="0">
              <a:buNone/>
            </a:pPr>
            <a:r>
              <a:rPr lang="en-US" sz="1200" dirty="0">
                <a:solidFill>
                  <a:srgbClr val="55555B"/>
                </a:solidFill>
              </a:rPr>
              <a:t>Hallucination rate: 31%, 22%, 59%.</a:t>
            </a:r>
            <a:endParaRPr lang="en-US" sz="1200" dirty="0"/>
          </a:p>
          <a:p>
            <a:pPr indent="0" marL="0">
              <a:buNone/>
            </a:pPr>
            <a:r>
              <a:rPr lang="en-US" sz="1200" dirty="0">
                <a:solidFill>
                  <a:srgbClr val="55555B"/>
                </a:solidFill>
              </a:rPr>
              <a:t>Evidence recall 0.14, 0.70, 1.00; precision 0.05, 0.25, 1.00 (code only, code + history, oracle).</a:t>
            </a:r>
            <a:endParaRPr lang="en-US" sz="1200" dirty="0"/>
          </a:p>
          <a:p>
            <a:pPr indent="0" marL="0">
              <a:buNone/>
            </a:pPr>
            <a:r>
              <a:rPr lang="en-US" sz="1200" dirty="0">
                <a:solidFill>
                  <a:srgbClr val="55555B"/>
                </a:solidFill>
              </a:rPr>
              <a:t>Mean latency: 12.0 s, 14.5 s, 2.3 s. Tokens written: 126, 173, 147.</a:t>
            </a:r>
            <a:endParaRPr lang="en-US" sz="1200" dirty="0"/>
          </a:p>
          <a:p>
            <a:pPr indent="0" marL="0">
              <a:buNone/>
            </a:pPr>
            <a:r>
              <a:rPr lang="en-US" sz="1200" dirty="0">
                <a:solidFill>
                  <a:srgbClr val="55555B"/>
                </a:solidFill>
              </a:rPr>
              <a:t>Refusal correctness 0.83 with no context, 0.89 to 1.00 with retrieval.</a:t>
            </a:r>
            <a:endParaRPr lang="en-US" sz="1200" dirty="0"/>
          </a:p>
        </p:txBody>
      </p:sp>
      <p:sp>
        <p:nvSpPr>
          <p:cNvPr id="12" name="Shape 9"/>
          <p:cNvSpPr/>
          <p:nvPr/>
        </p:nvSpPr>
        <p:spPr>
          <a:xfrm>
            <a:off x="8125968" y="2057400"/>
            <a:ext cx="3514344" cy="4160520"/>
          </a:xfrm>
          <a:prstGeom prst="roundRect">
            <a:avLst>
              <a:gd name="adj" fmla="val 2602"/>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3" name="Text 10"/>
          <p:cNvSpPr txBox="1"/>
          <p:nvPr/>
        </p:nvSpPr>
        <p:spPr>
          <a:xfrm>
            <a:off x="8308848" y="2194560"/>
            <a:ext cx="3148584" cy="365760"/>
          </a:xfrm>
          <a:prstGeom prst="rect">
            <a:avLst/>
          </a:prstGeom>
          <a:noFill/>
          <a:ln/>
        </p:spPr>
        <p:txBody>
          <a:bodyPr wrap="square" lIns="0" tIns="0" rIns="0" bIns="0" rtlCol="0" anchor="t"/>
          <a:lstStyle/>
          <a:p>
            <a:pPr indent="0" marL="0">
              <a:buNone/>
            </a:pPr>
            <a:r>
              <a:rPr lang="en-US" sz="1500" b="1" dirty="0">
                <a:solidFill>
                  <a:srgbClr val="0071E3"/>
                </a:solidFill>
              </a:rPr>
              <a:t>Live metrics (demo traffic)</a:t>
            </a:r>
            <a:endParaRPr lang="en-US" sz="1500" dirty="0"/>
          </a:p>
        </p:txBody>
      </p:sp>
      <p:sp>
        <p:nvSpPr>
          <p:cNvPr id="14" name="Text 11"/>
          <p:cNvSpPr txBox="1"/>
          <p:nvPr/>
        </p:nvSpPr>
        <p:spPr>
          <a:xfrm>
            <a:off x="8308848" y="2560320"/>
            <a:ext cx="3148584" cy="3547872"/>
          </a:xfrm>
          <a:prstGeom prst="rect">
            <a:avLst/>
          </a:prstGeom>
          <a:noFill/>
          <a:ln/>
        </p:spPr>
        <p:txBody>
          <a:bodyPr wrap="square" lIns="0" tIns="0" rIns="0" bIns="0" rtlCol="0" anchor="t"/>
          <a:lstStyle/>
          <a:p>
            <a:pPr indent="0" marL="0">
              <a:buNone/>
            </a:pPr>
            <a:r>
              <a:rPr lang="en-US" sz="1200" dirty="0">
                <a:solidFill>
                  <a:srgbClr val="55555B"/>
                </a:solidFill>
              </a:rPr>
              <a:t>5 of 5 /api/ask requests succeeded; no 5xx errors.</a:t>
            </a:r>
            <a:endParaRPr lang="en-US" sz="1200" dirty="0"/>
          </a:p>
          <a:p>
            <a:pPr indent="0" marL="0">
              <a:buNone/>
            </a:pPr>
            <a:r>
              <a:rPr lang="en-US" sz="1200" dirty="0">
                <a:solidFill>
                  <a:srgbClr val="55555B"/>
                </a:solidFill>
              </a:rPr>
              <a:t>p95 /ask latency about 26 s.</a:t>
            </a:r>
            <a:endParaRPr lang="en-US" sz="1200" dirty="0"/>
          </a:p>
          <a:p>
            <a:pPr indent="0" marL="0">
              <a:buNone/>
            </a:pPr>
            <a:r>
              <a:rPr lang="en-US" sz="1200" dirty="0">
                <a:solidFill>
                  <a:srgbClr val="55555B"/>
                </a:solidFill>
              </a:rPr>
              <a:t>3 answers used 6,635 tokens in, 554 out.</a:t>
            </a:r>
            <a:endParaRPr lang="en-US" sz="1200" dirty="0"/>
          </a:p>
          <a:p>
            <a:pPr indent="0" marL="0">
              <a:buNone/>
            </a:pPr>
            <a:r>
              <a:rPr lang="en-US" sz="1200" dirty="0">
                <a:solidFill>
                  <a:srgbClr val="55555B"/>
                </a:solidFill>
              </a:rPr>
              <a:t>Guardrails fired: G1, G10, G4. Refusals: off_topic, unsafe_request.</a:t>
            </a:r>
            <a:endParaRPr lang="en-US" sz="1200" dirty="0"/>
          </a:p>
          <a:p>
            <a:pPr indent="0" marL="0">
              <a:buNone/>
            </a:pPr>
            <a:r>
              <a:rPr lang="en-US" sz="1200" dirty="0">
                <a:solidFill>
                  <a:srgbClr val="55555B"/>
                </a:solidFill>
              </a:rPr>
              <a:t>No alert firing; 3 rules healthy.</a:t>
            </a:r>
            <a:endParaRPr lang="en-US" sz="12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GRAFANA 1 OF 4</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Evaluation results in Grafana</a:t>
            </a:r>
            <a:endParaRPr lang="en-US" sz="3600" dirty="0"/>
          </a:p>
        </p:txBody>
      </p:sp>
      <p:pic>
        <p:nvPicPr>
          <p:cNvPr id="5" name="Image 0" descr="Grafana: overall correctness by model and mode">    </p:cNvPr>
          <p:cNvPicPr>
            <a:picLocks noChangeAspect="1"/>
          </p:cNvPicPr>
          <p:nvPr/>
        </p:nvPicPr>
        <p:blipFill>
          <a:blip r:embed="rId1"/>
          <a:stretch>
            <a:fillRect/>
          </a:stretch>
        </p:blipFill>
        <p:spPr>
          <a:xfrm>
            <a:off x="548640" y="1463040"/>
            <a:ext cx="5221224" cy="3749040"/>
          </a:xfrm>
          <a:prstGeom prst="rect">
            <a:avLst/>
          </a:prstGeom>
        </p:spPr>
      </p:pic>
      <p:pic>
        <p:nvPicPr>
          <p:cNvPr id="6" name="Image 1" descr="Grafana: history effect per model">    </p:cNvPr>
          <p:cNvPicPr>
            <a:picLocks noChangeAspect="1"/>
          </p:cNvPicPr>
          <p:nvPr/>
        </p:nvPicPr>
        <p:blipFill>
          <a:blip r:embed="rId2"/>
          <a:stretch>
            <a:fillRect/>
          </a:stretch>
        </p:blipFill>
        <p:spPr>
          <a:xfrm>
            <a:off x="5989320" y="1463040"/>
            <a:ext cx="5477256" cy="3749040"/>
          </a:xfrm>
          <a:prstGeom prst="rect">
            <a:avLst/>
          </a:prstGeom>
        </p:spPr>
      </p:pic>
      <p:sp>
        <p:nvSpPr>
          <p:cNvPr id="7" name="Text 2"/>
          <p:cNvSpPr txBox="1"/>
          <p:nvPr/>
        </p:nvSpPr>
        <p:spPr>
          <a:xfrm>
            <a:off x="548640" y="5394960"/>
            <a:ext cx="11091672" cy="731520"/>
          </a:xfrm>
          <a:prstGeom prst="rect">
            <a:avLst/>
          </a:prstGeom>
          <a:noFill/>
          <a:ln/>
        </p:spPr>
        <p:txBody>
          <a:bodyPr wrap="square" lIns="0" tIns="0" rIns="0" bIns="0" rtlCol="0" anchor="t"/>
          <a:lstStyle/>
          <a:p>
            <a:pPr indent="0" marL="0">
              <a:buNone/>
            </a:pPr>
            <a:r>
              <a:rPr lang="en-US" sz="1400" dirty="0">
                <a:solidFill>
                  <a:srgbClr val="55555B"/>
                </a:solidFill>
              </a:rPr>
              <a:t>Left: correctness for no context, code only, code + history, oracle. Right: history effect +0.319 (llama2), +0.278 (codellama), -0.021 (starcoder2).</a:t>
            </a:r>
            <a:endParaRPr lang="en-US" sz="14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GRAFANA 2 OF 4</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Quality, retrieval and cost</a:t>
            </a:r>
            <a:endParaRPr lang="en-US" sz="3600" dirty="0"/>
          </a:p>
        </p:txBody>
      </p:sp>
      <p:pic>
        <p:nvPicPr>
          <p:cNvPr id="5" name="Image 0" descr="Grafana: hallucination rate, retrieval quality, latency">    </p:cNvPr>
          <p:cNvPicPr>
            <a:picLocks noChangeAspect="1"/>
          </p:cNvPicPr>
          <p:nvPr/>
        </p:nvPicPr>
        <p:blipFill>
          <a:blip r:embed="rId1"/>
          <a:stretch>
            <a:fillRect/>
          </a:stretch>
        </p:blipFill>
        <p:spPr>
          <a:xfrm>
            <a:off x="548640" y="1463040"/>
            <a:ext cx="11091672" cy="3281286"/>
          </a:xfrm>
          <a:prstGeom prst="rect">
            <a:avLst/>
          </a:prstGeom>
        </p:spPr>
      </p:pic>
      <p:sp>
        <p:nvSpPr>
          <p:cNvPr id="6" name="Text 2"/>
          <p:cNvSpPr txBox="1"/>
          <p:nvPr/>
        </p:nvSpPr>
        <p:spPr>
          <a:xfrm>
            <a:off x="548640" y="4892040"/>
            <a:ext cx="11091672" cy="1097280"/>
          </a:xfrm>
          <a:prstGeom prst="rect">
            <a:avLst/>
          </a:prstGeom>
          <a:noFill/>
          <a:ln/>
        </p:spPr>
        <p:txBody>
          <a:bodyPr wrap="square" lIns="0" tIns="0" rIns="0" bIns="0" rtlCol="0" anchor="t"/>
          <a:lstStyle/>
          <a:p>
            <a:pPr indent="0" marL="0">
              <a:buNone/>
            </a:pPr>
            <a:r>
              <a:rPr lang="en-US" sz="1500" dirty="0">
                <a:solidFill>
                  <a:srgbClr val="1D1D1F"/>
                </a:solidFill>
              </a:rPr>
              <a:t>Hallucination: llama2 31.2%, codellama 21.9%, starcoder2 59.4%. Retrieval: recall 14% (code only), 70% (code + history), 100% (oracle). Latency: starcoder2 fastest (2.3 s) but least reliable; the 7B models take 12 to 16 s.</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GRAFANA 3 OF 4</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Tokens, grounding and refusals</a:t>
            </a:r>
            <a:endParaRPr lang="en-US" sz="3600" dirty="0"/>
          </a:p>
        </p:txBody>
      </p:sp>
      <p:pic>
        <p:nvPicPr>
          <p:cNvPr id="5" name="Image 0" descr="Grafana: tokens per answer, unsupported-sentence ratio, refusal correctness">    </p:cNvPr>
          <p:cNvPicPr>
            <a:picLocks noChangeAspect="1"/>
          </p:cNvPicPr>
          <p:nvPr/>
        </p:nvPicPr>
        <p:blipFill>
          <a:blip r:embed="rId1"/>
          <a:stretch>
            <a:fillRect/>
          </a:stretch>
        </p:blipFill>
        <p:spPr>
          <a:xfrm>
            <a:off x="548640" y="1463040"/>
            <a:ext cx="11091672" cy="3285908"/>
          </a:xfrm>
          <a:prstGeom prst="rect">
            <a:avLst/>
          </a:prstGeom>
        </p:spPr>
      </p:pic>
      <p:sp>
        <p:nvSpPr>
          <p:cNvPr id="6" name="Text 2"/>
          <p:cNvSpPr txBox="1"/>
          <p:nvPr/>
        </p:nvSpPr>
        <p:spPr>
          <a:xfrm>
            <a:off x="548640" y="4892040"/>
            <a:ext cx="11091672" cy="1097280"/>
          </a:xfrm>
          <a:prstGeom prst="rect">
            <a:avLst/>
          </a:prstGeom>
          <a:noFill/>
          <a:ln/>
        </p:spPr>
        <p:txBody>
          <a:bodyPr wrap="square" lIns="0" tIns="0" rIns="0" bIns="0" rtlCol="0" anchor="t"/>
          <a:lstStyle/>
          <a:p>
            <a:pPr indent="0" marL="0">
              <a:buNone/>
            </a:pPr>
            <a:r>
              <a:rPr lang="en-US" sz="1500" dirty="0">
                <a:solidFill>
                  <a:srgbClr val="1D1D1F"/>
                </a:solidFill>
              </a:rPr>
              <a:t>Tokens written: 126 (llama2), 173 (codellama), 147 (starcoder2). Unsupported-sentence ratio: 27.1%, 26.1%, 36.7%. Refusal correctness is lowest with no context (the model answers questions it should refuse) and highest with retrieval.</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GRAFANA 4 OF 4</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Live service metrics</a:t>
            </a:r>
            <a:endParaRPr lang="en-US" sz="3600" dirty="0"/>
          </a:p>
        </p:txBody>
      </p:sp>
      <p:pic>
        <p:nvPicPr>
          <p:cNvPr id="5" name="Image 0" descr="Grafana: p95 latency, guardrail triggers, LLM tokens, refusals">    </p:cNvPr>
          <p:cNvPicPr>
            <a:picLocks noChangeAspect="1"/>
          </p:cNvPicPr>
          <p:nvPr/>
        </p:nvPicPr>
        <p:blipFill>
          <a:blip r:embed="rId1"/>
          <a:stretch>
            <a:fillRect/>
          </a:stretch>
        </p:blipFill>
        <p:spPr>
          <a:xfrm>
            <a:off x="548640" y="1463040"/>
            <a:ext cx="7589520" cy="4553712"/>
          </a:xfrm>
          <a:prstGeom prst="rect">
            <a:avLst/>
          </a:prstGeom>
        </p:spPr>
      </p:pic>
      <p:sp>
        <p:nvSpPr>
          <p:cNvPr id="6" name="Shape 2"/>
          <p:cNvSpPr/>
          <p:nvPr/>
        </p:nvSpPr>
        <p:spPr>
          <a:xfrm>
            <a:off x="8366760" y="1463040"/>
            <a:ext cx="3273552" cy="4553712"/>
          </a:xfrm>
          <a:prstGeom prst="roundRect">
            <a:avLst>
              <a:gd name="adj" fmla="val 2793"/>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7" name="Text 3"/>
          <p:cNvSpPr txBox="1"/>
          <p:nvPr/>
        </p:nvSpPr>
        <p:spPr>
          <a:xfrm>
            <a:off x="8549640" y="1600200"/>
            <a:ext cx="2907792" cy="365760"/>
          </a:xfrm>
          <a:prstGeom prst="rect">
            <a:avLst/>
          </a:prstGeom>
          <a:noFill/>
          <a:ln/>
        </p:spPr>
        <p:txBody>
          <a:bodyPr wrap="square" lIns="0" tIns="0" rIns="0" bIns="0" rtlCol="0" anchor="t"/>
          <a:lstStyle/>
          <a:p>
            <a:pPr indent="0" marL="0">
              <a:buNone/>
            </a:pPr>
            <a:r>
              <a:rPr lang="en-US" sz="1500" b="1" dirty="0">
                <a:solidFill>
                  <a:srgbClr val="0071E3"/>
                </a:solidFill>
              </a:rPr>
              <a:t>What it shows</a:t>
            </a:r>
            <a:endParaRPr lang="en-US" sz="1500" dirty="0"/>
          </a:p>
        </p:txBody>
      </p:sp>
      <p:sp>
        <p:nvSpPr>
          <p:cNvPr id="8" name="Text 4"/>
          <p:cNvSpPr txBox="1"/>
          <p:nvPr/>
        </p:nvSpPr>
        <p:spPr>
          <a:xfrm>
            <a:off x="8549640" y="1965960"/>
            <a:ext cx="2907792" cy="3941064"/>
          </a:xfrm>
          <a:prstGeom prst="rect">
            <a:avLst/>
          </a:prstGeom>
          <a:noFill/>
          <a:ln/>
        </p:spPr>
        <p:txBody>
          <a:bodyPr wrap="square" lIns="0" tIns="0" rIns="0" bIns="0" rtlCol="0" anchor="t"/>
          <a:lstStyle/>
          <a:p>
            <a:pPr indent="0" marL="0">
              <a:buNone/>
            </a:pPr>
            <a:r>
              <a:rPr lang="en-US" sz="1300" dirty="0">
                <a:solidFill>
                  <a:srgbClr val="55555B"/>
                </a:solidFill>
              </a:rPr>
              <a:t>p95 latency of /api/ask about 26 s.</a:t>
            </a:r>
            <a:endParaRPr lang="en-US" sz="1300" dirty="0"/>
          </a:p>
          <a:p>
            <a:pPr indent="0" marL="0">
              <a:buNone/>
            </a:pPr>
            <a:r>
              <a:rPr lang="en-US" sz="1300" dirty="0">
                <a:solidFill>
                  <a:srgbClr val="55555B"/>
                </a:solidFill>
              </a:rPr>
              <a:t>Guardrails fired: G4 (grounding flag), G1 (off-topic refusal), G10 (unsafe request refused).</a:t>
            </a:r>
            <a:endParaRPr lang="en-US" sz="1300" dirty="0"/>
          </a:p>
          <a:p>
            <a:pPr indent="0" marL="0">
              <a:buNone/>
            </a:pPr>
            <a:r>
              <a:rPr lang="en-US" sz="1300" dirty="0">
                <a:solidFill>
                  <a:srgbClr val="55555B"/>
                </a:solidFill>
              </a:rPr>
              <a:t>LLM tokens: 6,635 in, 554 out for 3 answers.</a:t>
            </a:r>
            <a:endParaRPr lang="en-US" sz="1300" dirty="0"/>
          </a:p>
          <a:p>
            <a:pPr indent="0" marL="0">
              <a:buNone/>
            </a:pPr>
            <a:r>
              <a:rPr lang="en-US" sz="1300" dirty="0">
                <a:solidFill>
                  <a:srgbClr val="55555B"/>
                </a:solidFill>
              </a:rPr>
              <a:t>Refusals: off_topic, unsafe_request.</a:t>
            </a:r>
            <a:endParaRPr lang="en-US" sz="1300" dirty="0"/>
          </a:p>
          <a:p>
            <a:pPr indent="0" marL="0">
              <a:buNone/>
            </a:pPr>
            <a:r>
              <a:rPr lang="en-US" sz="1300" dirty="0">
                <a:solidFill>
                  <a:srgbClr val="55555B"/>
                </a:solidFill>
              </a:rPr>
              <a:t>No 5xx errors; no alerts firing.</a:t>
            </a:r>
            <a:endParaRPr lang="en-US" sz="13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RESULTS: HELD-OUT RUN ON A REAL REPOSITORY</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the experiment shows</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Run #8: pallets/itsdangerous, 35 questions, 399 answers, real local models. Overall correctness per mode.</a:t>
            </a:r>
            <a:endParaRPr lang="en-US" sz="1600" dirty="0"/>
          </a:p>
        </p:txBody>
      </p:sp>
      <p:graphicFrame>
        <p:nvGraphicFramePr>
          <p:cNvPr id="6" name="Chart 0" descr=""/>
          <p:cNvGraphicFramePr/>
          <p:nvPr/>
        </p:nvGraphicFramePr>
        <p:xfrm>
          <a:off x="548640" y="201168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772400" y="2011680"/>
            <a:ext cx="3840480" cy="320040"/>
          </a:xfrm>
          <a:prstGeom prst="rect">
            <a:avLst/>
          </a:prstGeom>
          <a:noFill/>
          <a:ln/>
        </p:spPr>
        <p:txBody>
          <a:bodyPr wrap="square" lIns="0" tIns="0" rIns="0" bIns="0" rtlCol="0" anchor="ctr"/>
          <a:lstStyle/>
          <a:p>
            <a:pPr indent="0" marL="0">
              <a:buNone/>
            </a:pPr>
            <a:r>
              <a:rPr lang="en-US" sz="1400" b="1" dirty="0">
                <a:solidFill>
                  <a:srgbClr val="1D1D1F"/>
                </a:solidFill>
              </a:rPr>
              <a:t>History vs code-only (24 history questions)</a:t>
            </a:r>
            <a:endParaRPr lang="en-US" sz="1400" dirty="0"/>
          </a:p>
        </p:txBody>
      </p:sp>
      <p:sp>
        <p:nvSpPr>
          <p:cNvPr id="8" name="Shape 4"/>
          <p:cNvSpPr/>
          <p:nvPr/>
        </p:nvSpPr>
        <p:spPr>
          <a:xfrm>
            <a:off x="7772400" y="2423160"/>
            <a:ext cx="3867912" cy="1051560"/>
          </a:xfrm>
          <a:prstGeom prst="roundRect">
            <a:avLst>
              <a:gd name="adj" fmla="val 8696"/>
            </a:avLst>
          </a:prstGeom>
          <a:solidFill>
            <a:srgbClr val="FFFFFF"/>
          </a:solidFill>
          <a:ln w="9525">
            <a:solidFill>
              <a:srgbClr val="D9D9DE"/>
            </a:solidFill>
            <a:prstDash val="solid"/>
          </a:ln>
        </p:spPr>
      </p:sp>
      <p:sp>
        <p:nvSpPr>
          <p:cNvPr id="9" name="Text 5"/>
          <p:cNvSpPr txBox="1"/>
          <p:nvPr/>
        </p:nvSpPr>
        <p:spPr>
          <a:xfrm>
            <a:off x="7955280" y="2514600"/>
            <a:ext cx="2011680" cy="320040"/>
          </a:xfrm>
          <a:prstGeom prst="rect">
            <a:avLst/>
          </a:prstGeom>
          <a:noFill/>
          <a:ln/>
        </p:spPr>
        <p:txBody>
          <a:bodyPr wrap="square" lIns="0" tIns="0" rIns="0" bIns="0" rtlCol="0" anchor="ctr"/>
          <a:lstStyle/>
          <a:p>
            <a:pPr indent="0" marL="0">
              <a:buNone/>
            </a:pPr>
            <a:r>
              <a:rPr lang="en-US" sz="1500" b="1" dirty="0">
                <a:solidFill>
                  <a:srgbClr val="1D1D1F"/>
                </a:solidFill>
              </a:rPr>
              <a:t>llama2</a:t>
            </a:r>
            <a:endParaRPr lang="en-US" sz="1500" dirty="0"/>
          </a:p>
        </p:txBody>
      </p:sp>
      <p:sp>
        <p:nvSpPr>
          <p:cNvPr id="10" name="Text 6"/>
          <p:cNvSpPr txBox="1"/>
          <p:nvPr/>
        </p:nvSpPr>
        <p:spPr>
          <a:xfrm>
            <a:off x="9966960" y="2468880"/>
            <a:ext cx="1554480" cy="457200"/>
          </a:xfrm>
          <a:prstGeom prst="rect">
            <a:avLst/>
          </a:prstGeom>
          <a:noFill/>
          <a:ln/>
        </p:spPr>
        <p:txBody>
          <a:bodyPr wrap="square" lIns="0" tIns="0" rIns="0" bIns="0" rtlCol="0" anchor="ctr"/>
          <a:lstStyle/>
          <a:p>
            <a:pPr algn="r" indent="0" marL="0">
              <a:buNone/>
            </a:pPr>
            <a:r>
              <a:rPr lang="en-US" sz="2400" b="1" dirty="0">
                <a:solidFill>
                  <a:srgbClr val="1E9E6A"/>
                </a:solidFill>
              </a:rPr>
              <a:t>+0.32</a:t>
            </a:r>
            <a:endParaRPr lang="en-US" sz="2400" dirty="0"/>
          </a:p>
        </p:txBody>
      </p:sp>
      <p:sp>
        <p:nvSpPr>
          <p:cNvPr id="11" name="Text 7"/>
          <p:cNvSpPr txBox="1"/>
          <p:nvPr/>
        </p:nvSpPr>
        <p:spPr>
          <a:xfrm>
            <a:off x="7955280" y="2880360"/>
            <a:ext cx="3566160" cy="274320"/>
          </a:xfrm>
          <a:prstGeom prst="rect">
            <a:avLst/>
          </a:prstGeom>
          <a:noFill/>
          <a:ln/>
        </p:spPr>
        <p:txBody>
          <a:bodyPr wrap="square" lIns="0" tIns="0" rIns="0" bIns="0" rtlCol="0" anchor="ctr"/>
          <a:lstStyle/>
          <a:p>
            <a:pPr indent="0" marL="0">
              <a:buNone/>
            </a:pPr>
            <a:r>
              <a:rPr lang="en-US" sz="1200" dirty="0">
                <a:solidFill>
                  <a:srgbClr val="55555B"/>
                </a:solidFill>
              </a:rPr>
              <a:t>95% CI [+0.07, +0.55]</a:t>
            </a:r>
            <a:endParaRPr lang="en-US" sz="1200" dirty="0"/>
          </a:p>
        </p:txBody>
      </p:sp>
      <p:sp>
        <p:nvSpPr>
          <p:cNvPr id="12" name="Text 8"/>
          <p:cNvSpPr txBox="1"/>
          <p:nvPr/>
        </p:nvSpPr>
        <p:spPr>
          <a:xfrm>
            <a:off x="7955280" y="3136392"/>
            <a:ext cx="3566160" cy="274320"/>
          </a:xfrm>
          <a:prstGeom prst="rect">
            <a:avLst/>
          </a:prstGeom>
          <a:noFill/>
          <a:ln/>
        </p:spPr>
        <p:txBody>
          <a:bodyPr wrap="square" lIns="0" tIns="0" rIns="0" bIns="0" rtlCol="0" anchor="ctr"/>
          <a:lstStyle/>
          <a:p>
            <a:pPr indent="0" marL="0">
              <a:buNone/>
            </a:pPr>
            <a:r>
              <a:rPr lang="en-US" sz="1300" b="1" dirty="0">
                <a:solidFill>
                  <a:srgbClr val="1E9E6A"/>
                </a:solidFill>
              </a:rPr>
              <a:t>history is useful</a:t>
            </a:r>
            <a:endParaRPr lang="en-US" sz="1300" dirty="0"/>
          </a:p>
        </p:txBody>
      </p:sp>
      <p:sp>
        <p:nvSpPr>
          <p:cNvPr id="13" name="Shape 9"/>
          <p:cNvSpPr/>
          <p:nvPr/>
        </p:nvSpPr>
        <p:spPr>
          <a:xfrm>
            <a:off x="7772400" y="3611880"/>
            <a:ext cx="3867912" cy="1051560"/>
          </a:xfrm>
          <a:prstGeom prst="roundRect">
            <a:avLst>
              <a:gd name="adj" fmla="val 8696"/>
            </a:avLst>
          </a:prstGeom>
          <a:solidFill>
            <a:srgbClr val="FFFFFF"/>
          </a:solidFill>
          <a:ln w="9525">
            <a:solidFill>
              <a:srgbClr val="D9D9DE"/>
            </a:solidFill>
            <a:prstDash val="solid"/>
          </a:ln>
        </p:spPr>
      </p:sp>
      <p:sp>
        <p:nvSpPr>
          <p:cNvPr id="14" name="Text 10"/>
          <p:cNvSpPr txBox="1"/>
          <p:nvPr/>
        </p:nvSpPr>
        <p:spPr>
          <a:xfrm>
            <a:off x="7955280" y="3703320"/>
            <a:ext cx="2011680" cy="320040"/>
          </a:xfrm>
          <a:prstGeom prst="rect">
            <a:avLst/>
          </a:prstGeom>
          <a:noFill/>
          <a:ln/>
        </p:spPr>
        <p:txBody>
          <a:bodyPr wrap="square" lIns="0" tIns="0" rIns="0" bIns="0" rtlCol="0" anchor="ctr"/>
          <a:lstStyle/>
          <a:p>
            <a:pPr indent="0" marL="0">
              <a:buNone/>
            </a:pPr>
            <a:r>
              <a:rPr lang="en-US" sz="1500" b="1" dirty="0">
                <a:solidFill>
                  <a:srgbClr val="1D1D1F"/>
                </a:solidFill>
              </a:rPr>
              <a:t>codellama:7b</a:t>
            </a:r>
            <a:endParaRPr lang="en-US" sz="1500" dirty="0"/>
          </a:p>
        </p:txBody>
      </p:sp>
      <p:sp>
        <p:nvSpPr>
          <p:cNvPr id="15" name="Text 11"/>
          <p:cNvSpPr txBox="1"/>
          <p:nvPr/>
        </p:nvSpPr>
        <p:spPr>
          <a:xfrm>
            <a:off x="9966960" y="3657600"/>
            <a:ext cx="1554480" cy="457200"/>
          </a:xfrm>
          <a:prstGeom prst="rect">
            <a:avLst/>
          </a:prstGeom>
          <a:noFill/>
          <a:ln/>
        </p:spPr>
        <p:txBody>
          <a:bodyPr wrap="square" lIns="0" tIns="0" rIns="0" bIns="0" rtlCol="0" anchor="ctr"/>
          <a:lstStyle/>
          <a:p>
            <a:pPr algn="r" indent="0" marL="0">
              <a:buNone/>
            </a:pPr>
            <a:r>
              <a:rPr lang="en-US" sz="2400" b="1" dirty="0">
                <a:solidFill>
                  <a:srgbClr val="1E9E6A"/>
                </a:solidFill>
              </a:rPr>
              <a:t>+0.28</a:t>
            </a:r>
            <a:endParaRPr lang="en-US" sz="2400" dirty="0"/>
          </a:p>
        </p:txBody>
      </p:sp>
      <p:sp>
        <p:nvSpPr>
          <p:cNvPr id="16" name="Text 12"/>
          <p:cNvSpPr txBox="1"/>
          <p:nvPr/>
        </p:nvSpPr>
        <p:spPr>
          <a:xfrm>
            <a:off x="7955280" y="4069080"/>
            <a:ext cx="3566160" cy="274320"/>
          </a:xfrm>
          <a:prstGeom prst="rect">
            <a:avLst/>
          </a:prstGeom>
          <a:noFill/>
          <a:ln/>
        </p:spPr>
        <p:txBody>
          <a:bodyPr wrap="square" lIns="0" tIns="0" rIns="0" bIns="0" rtlCol="0" anchor="ctr"/>
          <a:lstStyle/>
          <a:p>
            <a:pPr indent="0" marL="0">
              <a:buNone/>
            </a:pPr>
            <a:r>
              <a:rPr lang="en-US" sz="1200" dirty="0">
                <a:solidFill>
                  <a:srgbClr val="55555B"/>
                </a:solidFill>
              </a:rPr>
              <a:t>95% CI [+0.05, +0.49]</a:t>
            </a:r>
            <a:endParaRPr lang="en-US" sz="1200" dirty="0"/>
          </a:p>
        </p:txBody>
      </p:sp>
      <p:sp>
        <p:nvSpPr>
          <p:cNvPr id="17" name="Text 13"/>
          <p:cNvSpPr txBox="1"/>
          <p:nvPr/>
        </p:nvSpPr>
        <p:spPr>
          <a:xfrm>
            <a:off x="7955280" y="4325112"/>
            <a:ext cx="3566160" cy="274320"/>
          </a:xfrm>
          <a:prstGeom prst="rect">
            <a:avLst/>
          </a:prstGeom>
          <a:noFill/>
          <a:ln/>
        </p:spPr>
        <p:txBody>
          <a:bodyPr wrap="square" lIns="0" tIns="0" rIns="0" bIns="0" rtlCol="0" anchor="ctr"/>
          <a:lstStyle/>
          <a:p>
            <a:pPr indent="0" marL="0">
              <a:buNone/>
            </a:pPr>
            <a:r>
              <a:rPr lang="en-US" sz="1300" b="1" dirty="0">
                <a:solidFill>
                  <a:srgbClr val="1E9E6A"/>
                </a:solidFill>
              </a:rPr>
              <a:t>history is useful</a:t>
            </a:r>
            <a:endParaRPr lang="en-US" sz="1300" dirty="0"/>
          </a:p>
        </p:txBody>
      </p:sp>
      <p:sp>
        <p:nvSpPr>
          <p:cNvPr id="18" name="Shape 14"/>
          <p:cNvSpPr/>
          <p:nvPr/>
        </p:nvSpPr>
        <p:spPr>
          <a:xfrm>
            <a:off x="7772400" y="4800600"/>
            <a:ext cx="3867912" cy="1051560"/>
          </a:xfrm>
          <a:prstGeom prst="roundRect">
            <a:avLst>
              <a:gd name="adj" fmla="val 8696"/>
            </a:avLst>
          </a:prstGeom>
          <a:solidFill>
            <a:srgbClr val="FFFFFF"/>
          </a:solidFill>
          <a:ln w="9525">
            <a:solidFill>
              <a:srgbClr val="D9D9DE"/>
            </a:solidFill>
            <a:prstDash val="solid"/>
          </a:ln>
        </p:spPr>
      </p:sp>
      <p:sp>
        <p:nvSpPr>
          <p:cNvPr id="19" name="Text 15"/>
          <p:cNvSpPr txBox="1"/>
          <p:nvPr/>
        </p:nvSpPr>
        <p:spPr>
          <a:xfrm>
            <a:off x="7955280" y="4892040"/>
            <a:ext cx="2011680" cy="320040"/>
          </a:xfrm>
          <a:prstGeom prst="rect">
            <a:avLst/>
          </a:prstGeom>
          <a:noFill/>
          <a:ln/>
        </p:spPr>
        <p:txBody>
          <a:bodyPr wrap="square" lIns="0" tIns="0" rIns="0" bIns="0" rtlCol="0" anchor="ctr"/>
          <a:lstStyle/>
          <a:p>
            <a:pPr indent="0" marL="0">
              <a:buNone/>
            </a:pPr>
            <a:r>
              <a:rPr lang="en-US" sz="1500" b="1" dirty="0">
                <a:solidFill>
                  <a:srgbClr val="1D1D1F"/>
                </a:solidFill>
              </a:rPr>
              <a:t>starcoder2:3b</a:t>
            </a:r>
            <a:endParaRPr lang="en-US" sz="1500" dirty="0"/>
          </a:p>
        </p:txBody>
      </p:sp>
      <p:sp>
        <p:nvSpPr>
          <p:cNvPr id="20" name="Text 16"/>
          <p:cNvSpPr txBox="1"/>
          <p:nvPr/>
        </p:nvSpPr>
        <p:spPr>
          <a:xfrm>
            <a:off x="9966960" y="4846320"/>
            <a:ext cx="1554480" cy="457200"/>
          </a:xfrm>
          <a:prstGeom prst="rect">
            <a:avLst/>
          </a:prstGeom>
          <a:noFill/>
          <a:ln/>
        </p:spPr>
        <p:txBody>
          <a:bodyPr wrap="square" lIns="0" tIns="0" rIns="0" bIns="0" rtlCol="0" anchor="ctr"/>
          <a:lstStyle/>
          <a:p>
            <a:pPr algn="r" indent="0" marL="0">
              <a:buNone/>
            </a:pPr>
            <a:r>
              <a:rPr lang="en-US" sz="2400" b="1" dirty="0">
                <a:solidFill>
                  <a:srgbClr val="55555B"/>
                </a:solidFill>
              </a:rPr>
              <a:t>−0.02</a:t>
            </a:r>
            <a:endParaRPr lang="en-US" sz="2400" dirty="0"/>
          </a:p>
        </p:txBody>
      </p:sp>
      <p:sp>
        <p:nvSpPr>
          <p:cNvPr id="21" name="Text 17"/>
          <p:cNvSpPr txBox="1"/>
          <p:nvPr/>
        </p:nvSpPr>
        <p:spPr>
          <a:xfrm>
            <a:off x="7955280" y="5257800"/>
            <a:ext cx="3566160" cy="274320"/>
          </a:xfrm>
          <a:prstGeom prst="rect">
            <a:avLst/>
          </a:prstGeom>
          <a:noFill/>
          <a:ln/>
        </p:spPr>
        <p:txBody>
          <a:bodyPr wrap="square" lIns="0" tIns="0" rIns="0" bIns="0" rtlCol="0" anchor="ctr"/>
          <a:lstStyle/>
          <a:p>
            <a:pPr indent="0" marL="0">
              <a:buNone/>
            </a:pPr>
            <a:r>
              <a:rPr lang="en-US" sz="1200" dirty="0">
                <a:solidFill>
                  <a:srgbClr val="55555B"/>
                </a:solidFill>
              </a:rPr>
              <a:t>95% CI [−0.21, +0.17]</a:t>
            </a:r>
            <a:endParaRPr lang="en-US" sz="1200" dirty="0"/>
          </a:p>
        </p:txBody>
      </p:sp>
      <p:sp>
        <p:nvSpPr>
          <p:cNvPr id="22" name="Text 18"/>
          <p:cNvSpPr txBox="1"/>
          <p:nvPr/>
        </p:nvSpPr>
        <p:spPr>
          <a:xfrm>
            <a:off x="7955280" y="5513832"/>
            <a:ext cx="3566160" cy="274320"/>
          </a:xfrm>
          <a:prstGeom prst="rect">
            <a:avLst/>
          </a:prstGeom>
          <a:noFill/>
          <a:ln/>
        </p:spPr>
        <p:txBody>
          <a:bodyPr wrap="square" lIns="0" tIns="0" rIns="0" bIns="0" rtlCol="0" anchor="ctr"/>
          <a:lstStyle/>
          <a:p>
            <a:pPr indent="0" marL="0">
              <a:buNone/>
            </a:pPr>
            <a:r>
              <a:rPr lang="en-US" sz="1300" b="1" dirty="0">
                <a:solidFill>
                  <a:srgbClr val="55555B"/>
                </a:solidFill>
              </a:rPr>
              <a:t>no effect detected</a:t>
            </a:r>
            <a:endParaRPr lang="en-US" sz="13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RESULTS AND INTERPRETATION</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What the numbers mean</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600200"/>
                <a:gridCol w="1737360"/>
                <a:gridCol w="1097280"/>
                <a:gridCol w="1097280"/>
                <a:gridCol w="1371600"/>
                <a:gridCol w="2926080"/>
                <a:gridCol w="1261872"/>
              </a:tblGrid>
              <a:tr h="365760">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Repository</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No context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Code only</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Code + history</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History effect [95% CI]</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llama2</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Real (held-out)</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+0.32 [+0.07, +0.55]  p 0.022</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Useful</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codellama:7b</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Real (held-out)</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+0.28 [+0.05, +0.49]  p 0.033</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Useful</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starcoder2:3b</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Real (held-out)</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−0.02 [−0.21, +0.17]</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No effect</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EAF6F0"/>
                    </a:solidFill>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llama2</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Demo (dev)</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+0.42 [+0.15, +0.69]  p 0.023</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Useful</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codellama:7b</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Demo (dev)</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+0.42 [0.00, +0.73]</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Inconclusive</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r>
              <a:tr h="365760">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starcoder2:3b</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Demo (dev)</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dirty="0">
                          <a:solidFill>
                            <a:srgbClr val="1D1D1F"/>
                          </a:solidFill>
                          <a:latin typeface="Calibri" pitchFamily="34" charset="0"/>
                          <a:ea typeface="Calibri" pitchFamily="34" charset="-122"/>
                          <a:cs typeface="Calibri" pitchFamily="34" charset="-120"/>
                        </a:rPr>
                        <a:t>+0.08 [0.00, +0.19]</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c>
                  <a:txBody>
                    <a:bodyPr/>
                    <a:lstStyle/>
                    <a:p>
                      <a:pPr indent="0" marL="0">
                        <a:buNone/>
                      </a:pPr>
                      <a:r>
                        <a:rPr lang="en-US" sz="1300" b="1" dirty="0">
                          <a:solidFill>
                            <a:srgbClr val="1D1D1F"/>
                          </a:solidFill>
                          <a:latin typeface="Calibri" pitchFamily="34" charset="0"/>
                          <a:ea typeface="Calibri" pitchFamily="34" charset="-122"/>
                          <a:cs typeface="Calibri" pitchFamily="34" charset="-120"/>
                        </a:rPr>
                        <a:t>Inconclusive</a:t>
                      </a:r>
                      <a:endParaRPr lang="en-US" sz="13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tcPr>
                </a:tc>
              </a:tr>
            </a:tbl>
          </a:graphicData>
        </a:graphic>
      </p:graphicFrame>
      <p:sp>
        <p:nvSpPr>
          <p:cNvPr id="6" name="Shape 2"/>
          <p:cNvSpPr/>
          <p:nvPr/>
        </p:nvSpPr>
        <p:spPr>
          <a:xfrm>
            <a:off x="548640" y="4206240"/>
            <a:ext cx="3514344" cy="2011680"/>
          </a:xfrm>
          <a:prstGeom prst="roundRect">
            <a:avLst>
              <a:gd name="adj" fmla="val 4545"/>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7" name="Text 3"/>
          <p:cNvSpPr txBox="1"/>
          <p:nvPr/>
        </p:nvSpPr>
        <p:spPr>
          <a:xfrm>
            <a:off x="731520" y="4343400"/>
            <a:ext cx="3148584" cy="320040"/>
          </a:xfrm>
          <a:prstGeom prst="rect">
            <a:avLst/>
          </a:prstGeom>
          <a:noFill/>
          <a:ln/>
        </p:spPr>
        <p:txBody>
          <a:bodyPr wrap="square" lIns="0" tIns="0" rIns="0" bIns="0" rtlCol="0" anchor="t"/>
          <a:lstStyle/>
          <a:p>
            <a:pPr indent="0" marL="0">
              <a:buNone/>
            </a:pPr>
            <a:r>
              <a:rPr lang="en-US" sz="1500" b="1" dirty="0">
                <a:solidFill>
                  <a:srgbClr val="1D1D1F"/>
                </a:solidFill>
              </a:rPr>
              <a:t>It holds on a real repository</a:t>
            </a:r>
            <a:endParaRPr lang="en-US" sz="1500" dirty="0"/>
          </a:p>
        </p:txBody>
      </p:sp>
      <p:sp>
        <p:nvSpPr>
          <p:cNvPr id="8" name="Text 4"/>
          <p:cNvSpPr txBox="1"/>
          <p:nvPr/>
        </p:nvSpPr>
        <p:spPr>
          <a:xfrm>
            <a:off x="731520" y="4663440"/>
            <a:ext cx="3148584" cy="1444752"/>
          </a:xfrm>
          <a:prstGeom prst="rect">
            <a:avLst/>
          </a:prstGeom>
          <a:noFill/>
          <a:ln/>
        </p:spPr>
        <p:txBody>
          <a:bodyPr wrap="square" lIns="0" tIns="0" rIns="0" bIns="0" rtlCol="0" anchor="t"/>
          <a:lstStyle/>
          <a:p>
            <a:pPr indent="0" marL="0">
              <a:buNone/>
            </a:pPr>
            <a:r>
              <a:rPr lang="en-US" sz="1300" dirty="0">
                <a:solidFill>
                  <a:srgbClr val="55555B"/>
                </a:solidFill>
              </a:rPr>
              <a:t>Both 7B models pass the pre-registered rule on history written by strangers, and an independent LLM judge (DeepSeek) confirms it (+0.35). Smaller than on the demo (+0.4), as expected.</a:t>
            </a:r>
            <a:endParaRPr lang="en-US" sz="1300" dirty="0"/>
          </a:p>
        </p:txBody>
      </p:sp>
      <p:sp>
        <p:nvSpPr>
          <p:cNvPr id="9" name="Shape 5"/>
          <p:cNvSpPr/>
          <p:nvPr/>
        </p:nvSpPr>
        <p:spPr>
          <a:xfrm>
            <a:off x="4337304" y="4206240"/>
            <a:ext cx="3514344" cy="2011680"/>
          </a:xfrm>
          <a:prstGeom prst="roundRect">
            <a:avLst>
              <a:gd name="adj" fmla="val 4545"/>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0" name="Text 6"/>
          <p:cNvSpPr txBox="1"/>
          <p:nvPr/>
        </p:nvSpPr>
        <p:spPr>
          <a:xfrm>
            <a:off x="4520184" y="4343400"/>
            <a:ext cx="3148584" cy="320040"/>
          </a:xfrm>
          <a:prstGeom prst="rect">
            <a:avLst/>
          </a:prstGeom>
          <a:noFill/>
          <a:ln/>
        </p:spPr>
        <p:txBody>
          <a:bodyPr wrap="square" lIns="0" tIns="0" rIns="0" bIns="0" rtlCol="0" anchor="t"/>
          <a:lstStyle/>
          <a:p>
            <a:pPr indent="0" marL="0">
              <a:buNone/>
            </a:pPr>
            <a:r>
              <a:rPr lang="en-US" sz="1500" b="1" dirty="0">
                <a:solidFill>
                  <a:srgbClr val="1D1D1F"/>
                </a:solidFill>
              </a:rPr>
              <a:t>Mechanism: retrieval</a:t>
            </a:r>
            <a:endParaRPr lang="en-US" sz="1500" dirty="0"/>
          </a:p>
        </p:txBody>
      </p:sp>
      <p:sp>
        <p:nvSpPr>
          <p:cNvPr id="11" name="Text 7"/>
          <p:cNvSpPr txBox="1"/>
          <p:nvPr/>
        </p:nvSpPr>
        <p:spPr>
          <a:xfrm>
            <a:off x="4520184" y="4663440"/>
            <a:ext cx="3148584" cy="1444752"/>
          </a:xfrm>
          <a:prstGeom prst="rect">
            <a:avLst/>
          </a:prstGeom>
          <a:noFill/>
          <a:ln/>
        </p:spPr>
        <p:txBody>
          <a:bodyPr wrap="square" lIns="0" tIns="0" rIns="0" bIns="0" rtlCol="0" anchor="t"/>
          <a:lstStyle/>
          <a:p>
            <a:pPr indent="0" marL="0">
              <a:buNone/>
            </a:pPr>
            <a:r>
              <a:rPr lang="en-US" sz="1300" dirty="0">
                <a:solidFill>
                  <a:srgbClr val="55555B"/>
                </a:solidFill>
              </a:rPr>
              <a:t>Evidence recall rises from 0.14 (code only) to 0.70 (with history). Excluding two items an independent review flagged leaves the conclusions unchanged.</a:t>
            </a:r>
            <a:endParaRPr lang="en-US" sz="1300" dirty="0"/>
          </a:p>
        </p:txBody>
      </p:sp>
      <p:sp>
        <p:nvSpPr>
          <p:cNvPr id="12" name="Shape 8"/>
          <p:cNvSpPr/>
          <p:nvPr/>
        </p:nvSpPr>
        <p:spPr>
          <a:xfrm>
            <a:off x="8125968" y="4206240"/>
            <a:ext cx="3514344" cy="2011680"/>
          </a:xfrm>
          <a:prstGeom prst="roundRect">
            <a:avLst>
              <a:gd name="adj" fmla="val 4545"/>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3" name="Text 9"/>
          <p:cNvSpPr txBox="1"/>
          <p:nvPr/>
        </p:nvSpPr>
        <p:spPr>
          <a:xfrm>
            <a:off x="8308848" y="4343400"/>
            <a:ext cx="3148584" cy="320040"/>
          </a:xfrm>
          <a:prstGeom prst="rect">
            <a:avLst/>
          </a:prstGeom>
          <a:noFill/>
          <a:ln/>
        </p:spPr>
        <p:txBody>
          <a:bodyPr wrap="square" lIns="0" tIns="0" rIns="0" bIns="0" rtlCol="0" anchor="t"/>
          <a:lstStyle/>
          <a:p>
            <a:pPr indent="0" marL="0">
              <a:buNone/>
            </a:pPr>
            <a:r>
              <a:rPr lang="en-US" sz="1500" b="1" dirty="0">
                <a:solidFill>
                  <a:srgbClr val="1D1D1F"/>
                </a:solidFill>
              </a:rPr>
              <a:t>Model size matters</a:t>
            </a:r>
            <a:endParaRPr lang="en-US" sz="1500" dirty="0"/>
          </a:p>
        </p:txBody>
      </p:sp>
      <p:sp>
        <p:nvSpPr>
          <p:cNvPr id="14" name="Text 10"/>
          <p:cNvSpPr txBox="1"/>
          <p:nvPr/>
        </p:nvSpPr>
        <p:spPr>
          <a:xfrm>
            <a:off x="8308848" y="4663440"/>
            <a:ext cx="3148584" cy="1444752"/>
          </a:xfrm>
          <a:prstGeom prst="rect">
            <a:avLst/>
          </a:prstGeom>
          <a:noFill/>
          <a:ln/>
        </p:spPr>
        <p:txBody>
          <a:bodyPr wrap="square" lIns="0" tIns="0" rIns="0" bIns="0" rtlCol="0" anchor="t"/>
          <a:lstStyle/>
          <a:p>
            <a:pPr indent="0" marL="0">
              <a:buNone/>
            </a:pPr>
            <a:r>
              <a:rPr lang="en-US" sz="1300" dirty="0">
                <a:solidFill>
                  <a:srgbClr val="55555B"/>
                </a:solidFill>
              </a:rPr>
              <a:t>starcoder2:3b gets no benefit on either repository: even with the gold evidence it mostly invents (18 of 28 oracle answers hallucinated). Caution: on 4 control questions a judge hints history can hurt.</a:t>
            </a:r>
            <a:endParaRPr lang="en-US" sz="13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WHICH MODEL FOR WHICH TASK</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Which model is best for what?</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657600"/>
                <a:gridCol w="502920"/>
                <a:gridCol w="1737360"/>
                <a:gridCol w="1737360"/>
                <a:gridCol w="1600200"/>
                <a:gridCol w="1856232"/>
              </a:tblGrid>
              <a:tr h="347472">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llama2</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codellama:7b</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starcoder2:3b</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Best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r>
              <a:tr h="457200">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Explanation (why was it built this way)</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0.75 (0.50)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0.70 (0.45)</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0.15 (0.25)</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A"/>
                          </a:solidFill>
                          <a:latin typeface="Calibri" pitchFamily="34" charset="0"/>
                          <a:ea typeface="Calibri" pitchFamily="34" charset="-122"/>
                          <a:cs typeface="Calibri" pitchFamily="34" charset="-120"/>
                        </a:rPr>
                        <a:t>llama2 = codellama (tie)</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Bug analysis</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0.69 (0.58)</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0.61 (0.58)</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0.17 (0.00)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A"/>
                          </a:solidFill>
                          <a:latin typeface="Calibri" pitchFamily="34" charset="0"/>
                          <a:ea typeface="Calibri" pitchFamily="34" charset="-122"/>
                          <a:cs typeface="Calibri" pitchFamily="34" charset="-120"/>
                        </a:rPr>
                        <a:t>tie of the 7B models</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Dependency understanding (issue / PR / commit links)</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1.00 (1.00)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1.00 (1.00)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0.50 (0.25)</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A"/>
                          </a:solidFill>
                          <a:latin typeface="Calibri" pitchFamily="34" charset="0"/>
                          <a:ea typeface="Calibri" pitchFamily="34" charset="-122"/>
                          <a:cs typeface="Calibri" pitchFamily="34" charset="-120"/>
                        </a:rPr>
                        <a:t>tie of the 7B models</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Code retrieval (look up a fact in current code)</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0.75 (0.38)</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1.00 (0.88)</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0.25 (0.25)</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A"/>
                          </a:solidFill>
                          <a:latin typeface="Calibri" pitchFamily="34" charset="0"/>
                          <a:ea typeface="Calibri" pitchFamily="34" charset="-122"/>
                          <a:cs typeface="Calibri" pitchFamily="34" charset="-120"/>
                        </a:rPr>
                        <a:t>codellama:7b</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RAG, whole pipeline (no ctx / code only / code + history)</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0.21 / 0.50 / 0.77</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0.12 / 0.50 / 0.74</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dirty="0">
                          <a:solidFill>
                            <a:srgbClr val="1D1D1F"/>
                          </a:solidFill>
                          <a:latin typeface="Calibri" pitchFamily="34" charset="0"/>
                          <a:ea typeface="Calibri" pitchFamily="34" charset="-122"/>
                          <a:cs typeface="Calibri" pitchFamily="34" charset="-120"/>
                        </a:rPr>
                        <a:t>0.14 / 0.25 / 0.20</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A"/>
                          </a:solidFill>
                          <a:latin typeface="Calibri" pitchFamily="34" charset="0"/>
                          <a:ea typeface="Calibri" pitchFamily="34" charset="-122"/>
                          <a:cs typeface="Calibri" pitchFamily="34" charset="-120"/>
                        </a:rPr>
                        <a:t>llama2 = codellama</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384048">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Code generation</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384048">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Refactoring</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not evaluated</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200" i="1" dirty="0">
                          <a:solidFill>
                            <a:srgbClr val="55555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00600"/>
            <a:ext cx="5408676" cy="1463040"/>
          </a:xfrm>
          <a:prstGeom prst="roundRect">
            <a:avLst>
              <a:gd name="adj" fmla="val 6250"/>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7" name="Text 3"/>
          <p:cNvSpPr txBox="1"/>
          <p:nvPr/>
        </p:nvSpPr>
        <p:spPr>
          <a:xfrm>
            <a:off x="731520" y="4937760"/>
            <a:ext cx="5042916" cy="320040"/>
          </a:xfrm>
          <a:prstGeom prst="rect">
            <a:avLst/>
          </a:prstGeom>
          <a:noFill/>
          <a:ln/>
        </p:spPr>
        <p:txBody>
          <a:bodyPr wrap="square" lIns="0" tIns="0" rIns="0" bIns="0" rtlCol="0" anchor="t"/>
          <a:lstStyle/>
          <a:p>
            <a:pPr indent="0" marL="0">
              <a:buNone/>
            </a:pPr>
            <a:r>
              <a:rPr lang="en-US" sz="1500" b="1" dirty="0">
                <a:solidFill>
                  <a:srgbClr val="1D1D1F"/>
                </a:solidFill>
              </a:rPr>
              <a:t>Cost and reliability (code_history)</a:t>
            </a:r>
            <a:endParaRPr lang="en-US" sz="1500" dirty="0"/>
          </a:p>
        </p:txBody>
      </p:sp>
      <p:sp>
        <p:nvSpPr>
          <p:cNvPr id="8" name="Text 4"/>
          <p:cNvSpPr txBox="1"/>
          <p:nvPr/>
        </p:nvSpPr>
        <p:spPr>
          <a:xfrm>
            <a:off x="731520" y="5257800"/>
            <a:ext cx="5042916" cy="896112"/>
          </a:xfrm>
          <a:prstGeom prst="rect">
            <a:avLst/>
          </a:prstGeom>
          <a:noFill/>
          <a:ln/>
        </p:spPr>
        <p:txBody>
          <a:bodyPr wrap="square" lIns="0" tIns="0" rIns="0" bIns="0" rtlCol="0" anchor="t"/>
          <a:lstStyle/>
          <a:p>
            <a:pPr indent="0" marL="0">
              <a:buNone/>
            </a:pPr>
            <a:r>
              <a:rPr lang="en-US" sz="1300" dirty="0">
                <a:solidFill>
                  <a:srgbClr val="55555B"/>
                </a:solidFill>
              </a:rPr>
              <a:t>Hallucination rate: llama2 31%, codellama 22%, starcoder2 59%. Median latency: 8.3 s, 16.1 s, 1.4 s (means 12.0, 14.5, 2.3). Tokens out (median): 90, 193, 44. Live in Grafana.</a:t>
            </a:r>
            <a:endParaRPr lang="en-US" sz="1300" dirty="0"/>
          </a:p>
        </p:txBody>
      </p:sp>
      <p:sp>
        <p:nvSpPr>
          <p:cNvPr id="9" name="Shape 5"/>
          <p:cNvSpPr/>
          <p:nvPr/>
        </p:nvSpPr>
        <p:spPr>
          <a:xfrm>
            <a:off x="6231636" y="4800600"/>
            <a:ext cx="5408676" cy="1463040"/>
          </a:xfrm>
          <a:prstGeom prst="roundRect">
            <a:avLst>
              <a:gd name="adj" fmla="val 6250"/>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10" name="Text 6"/>
          <p:cNvSpPr txBox="1"/>
          <p:nvPr/>
        </p:nvSpPr>
        <p:spPr>
          <a:xfrm>
            <a:off x="6414516" y="4937760"/>
            <a:ext cx="5042916" cy="320040"/>
          </a:xfrm>
          <a:prstGeom prst="rect">
            <a:avLst/>
          </a:prstGeom>
          <a:noFill/>
          <a:ln/>
        </p:spPr>
        <p:txBody>
          <a:bodyPr wrap="square" lIns="0" tIns="0" rIns="0" bIns="0" rtlCol="0" anchor="t"/>
          <a:lstStyle/>
          <a:p>
            <a:pPr indent="0" marL="0">
              <a:buNone/>
            </a:pPr>
            <a:r>
              <a:rPr lang="en-US" sz="1500" b="1" dirty="0">
                <a:solidFill>
                  <a:srgbClr val="1D1D1F"/>
                </a:solidFill>
              </a:rPr>
              <a:t>Not evaluated</a:t>
            </a:r>
            <a:endParaRPr lang="en-US" sz="1500" dirty="0"/>
          </a:p>
        </p:txBody>
      </p:sp>
      <p:sp>
        <p:nvSpPr>
          <p:cNvPr id="11" name="Text 7"/>
          <p:cNvSpPr txBox="1"/>
          <p:nvPr/>
        </p:nvSpPr>
        <p:spPr>
          <a:xfrm>
            <a:off x="6414516" y="5257800"/>
            <a:ext cx="5042916" cy="896112"/>
          </a:xfrm>
          <a:prstGeom prst="rect">
            <a:avLst/>
          </a:prstGeom>
          <a:noFill/>
          <a:ln/>
        </p:spPr>
        <p:txBody>
          <a:bodyPr wrap="square" lIns="0" tIns="0" rIns="0" bIns="0" rtlCol="0" anchor="t"/>
          <a:lstStyle/>
          <a:p>
            <a:pPr indent="0" marL="0">
              <a:buNone/>
            </a:pPr>
            <a:r>
              <a:rPr lang="en-US" sz="1300" dirty="0">
                <a:solidFill>
                  <a:srgbClr val="55555B"/>
                </a:solidFill>
              </a:rPr>
              <a:t>Code generation, refactoring and a test-pass rate: the system answers questions and does not write code, so the dataset has no such tasks. Relevance is not scored separately.</a:t>
            </a:r>
            <a:endParaRPr lang="en-US" sz="13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FAILURE ANALYSIS</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Where it goes wrong</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651760"/>
                <a:gridCol w="6126480"/>
                <a:gridCol w="2313432"/>
              </a:tblGrid>
              <a:tr h="320040">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Failure</a:t>
                      </a:r>
                      <a:endParaRPr lang="en-US" sz="120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c>
                  <a:txBody>
                    <a:bodyPr/>
                    <a:lstStyle/>
                    <a:p>
                      <a:pPr indent="0" marL="0">
                        <a:buNone/>
                      </a:pPr>
                      <a:r>
                        <a:rPr lang="en-US" sz="1200" b="1" dirty="0">
                          <a:solidFill>
                            <a:srgbClr val="55555B"/>
                          </a:solidFill>
                          <a:latin typeface="Calibri" pitchFamily="34" charset="0"/>
                          <a:ea typeface="Calibri" pitchFamily="34" charset="-122"/>
                          <a:cs typeface="Calibri" pitchFamily="34" charset="-120"/>
                        </a:rPr>
                        <a:t>Response</a:t>
                      </a:r>
                      <a:endParaRPr lang="en-US" sz="120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5F5F7"/>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Retrieval misses unusual phrasing</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“Why was 1.0.0 removed from PyPI?” fetched unrelated issues; recall 0.70 not 1.00. Both 7B models invented a reason.</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Query rewriting (not done)</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History can distract on code questions</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llama2 said the default key derivation is “hmac” and cited an unrelated commit (code says django-concat). Judge control score drops −0.25 / −0.12 (4 questions).</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More control questions; filter history</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Refusal gate does not transfer</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On-topic unanswerable questions passed the relevance gate; codellama invented “Tristan Escalada, 2014”. Only llama2 abstained, by itself.</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Recalibrate G2 on several repos</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Model ignores or distorts evidence</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Evidence retrieved (#111, #112) but codellama said 1.1.0 changed the default to HS512 (that was 1.0). starcoder2: 18 of 28 oracle answers hallucinated.</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Instruction-tuned models</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Models rarely cite the right source</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Gold evidence cited in only 1–2% of answers; citation validity is high (0.9–1.0) because invented refs are stripped (G3).</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Stricter answer format</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r h="713232">
                <a:tc>
                  <a:txBody>
                    <a:bodyPr/>
                    <a:lstStyle/>
                    <a:p>
                      <a:pPr indent="0" marL="0">
                        <a:buNone/>
                      </a:pPr>
                      <a:r>
                        <a:rPr lang="en-US" sz="1150" b="1" dirty="0">
                          <a:solidFill>
                            <a:srgbClr val="1D1D1F"/>
                          </a:solidFill>
                          <a:latin typeface="Calibri" pitchFamily="34" charset="0"/>
                          <a:ea typeface="Calibri" pitchFamily="34" charset="-122"/>
                          <a:cs typeface="Calibri" pitchFamily="34" charset="-120"/>
                        </a:rPr>
                        <a:t>Automatic scoring is generous</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1D1D1F"/>
                          </a:solidFill>
                          <a:latin typeface="Calibri" pitchFamily="34" charset="0"/>
                          <a:ea typeface="Calibri" pitchFamily="34" charset="-122"/>
                          <a:cs typeface="Calibri" pitchFamily="34" charset="-120"/>
                        </a:rPr>
                        <a:t>Full credit to 143 answers; DeepSeek rated 42 lower. Kappa 0.75 (399), GPT 0.94 / Gemini 0.69 (36). Hand check of 18 factual rows: 18/18.</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c>
                  <a:txBody>
                    <a:bodyPr/>
                    <a:lstStyle/>
                    <a:p>
                      <a:pPr indent="0" marL="0">
                        <a:buNone/>
                      </a:pPr>
                      <a:r>
                        <a:rPr lang="en-US" sz="1150" dirty="0">
                          <a:solidFill>
                            <a:srgbClr val="55555B"/>
                          </a:solidFill>
                          <a:latin typeface="Calibri" pitchFamily="34" charset="0"/>
                          <a:ea typeface="Calibri" pitchFamily="34" charset="-122"/>
                          <a:cs typeface="Calibri" pitchFamily="34" charset="-120"/>
                        </a:rPr>
                        <a:t>Stricter key facts; more human grading</a:t>
                      </a:r>
                      <a:endParaRPr lang="en-US" sz="1150" dirty="0">
                        <a:latin typeface="Calibri" charset="0"/>
                        <a:ea typeface="Calibri" charset="0"/>
                        <a:cs typeface="Calibri" charset="0"/>
                      </a:endParaRPr>
                    </a:p>
                  </a:txBody>
                  <a:tcPr marL="91440" marR="91440" marT="45720" marB="45720" anchor="t">
                    <a:lnL w="9525" cap="flat" cmpd="sng" algn="ctr">
                      <a:solidFill>
                        <a:srgbClr val="D9D9DE"/>
                      </a:solidFill>
                      <a:prstDash val="solid"/>
                      <a:round/>
                      <a:headEnd type="none" w="med" len="med"/>
                      <a:tailEnd type="none" w="med" len="med"/>
                    </a:lnL>
                    <a:lnR w="9525" cap="flat" cmpd="sng" algn="ctr">
                      <a:solidFill>
                        <a:srgbClr val="D9D9DE"/>
                      </a:solidFill>
                      <a:prstDash val="solid"/>
                      <a:round/>
                      <a:headEnd type="none" w="med" len="med"/>
                      <a:tailEnd type="none" w="med" len="med"/>
                    </a:lnR>
                    <a:lnT w="9525" cap="flat" cmpd="sng" algn="ctr">
                      <a:solidFill>
                        <a:srgbClr val="D9D9DE"/>
                      </a:solidFill>
                      <a:prstDash val="solid"/>
                      <a:round/>
                      <a:headEnd type="none" w="med" len="med"/>
                      <a:tailEnd type="none" w="med" len="med"/>
                    </a:lnT>
                    <a:lnB w="9525" cap="flat" cmpd="sng" algn="ctr">
                      <a:solidFill>
                        <a:srgbClr val="D9D9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65760"/>
            <a:ext cx="11091672" cy="274320"/>
          </a:xfrm>
          <a:prstGeom prst="rect">
            <a:avLst/>
          </a:prstGeom>
          <a:noFill/>
          <a:ln/>
        </p:spPr>
        <p:txBody>
          <a:bodyPr wrap="square" lIns="0" tIns="0" rIns="0" bIns="0" rtlCol="0" anchor="ctr"/>
          <a:lstStyle/>
          <a:p>
            <a:pPr indent="0" marL="0">
              <a:buNone/>
            </a:pPr>
            <a:r>
              <a:rPr lang="en-US" sz="1200" b="1" spc="200" kern="0" dirty="0">
                <a:solidFill>
                  <a:srgbClr val="0071E3"/>
                </a:solidFill>
              </a:rPr>
              <a:t>LIVE SYSTEM</a:t>
            </a:r>
            <a:endParaRPr lang="en-US" sz="1200" dirty="0"/>
          </a:p>
        </p:txBody>
      </p:sp>
      <p:sp>
        <p:nvSpPr>
          <p:cNvPr id="3" name="Text 1"/>
          <p:cNvSpPr txBox="1"/>
          <p:nvPr/>
        </p:nvSpPr>
        <p:spPr>
          <a:xfrm>
            <a:off x="548640" y="658368"/>
            <a:ext cx="11091672" cy="731520"/>
          </a:xfrm>
          <a:prstGeom prst="rect">
            <a:avLst/>
          </a:prstGeom>
          <a:noFill/>
          <a:ln/>
        </p:spPr>
        <p:txBody>
          <a:bodyPr wrap="square" lIns="0" tIns="0" rIns="0" bIns="0" rtlCol="0" anchor="ctr"/>
          <a:lstStyle/>
          <a:p>
            <a:pPr indent="0" marL="0">
              <a:buNone/>
            </a:pPr>
            <a:r>
              <a:rPr lang="en-US" sz="3600" b="1" dirty="0">
                <a:solidFill>
                  <a:srgbClr val="1D1D1F"/>
                </a:solidFill>
              </a:rPr>
              <a:t>The running stack</a:t>
            </a:r>
            <a:endParaRPr lang="en-US" sz="3600" dirty="0"/>
          </a:p>
        </p:txBody>
      </p:sp>
      <p:sp>
        <p:nvSpPr>
          <p:cNvPr id="4" name="Text 2"/>
          <p:cNvSpPr txBox="1"/>
          <p:nvPr/>
        </p:nvSpPr>
        <p:spPr>
          <a:xfrm>
            <a:off x="548640" y="1371600"/>
            <a:ext cx="11091672" cy="548640"/>
          </a:xfrm>
          <a:prstGeom prst="rect">
            <a:avLst/>
          </a:prstGeom>
          <a:noFill/>
          <a:ln/>
        </p:spPr>
        <p:txBody>
          <a:bodyPr wrap="square" lIns="0" tIns="0" rIns="0" bIns="0" rtlCol="0" anchor="t"/>
          <a:lstStyle/>
          <a:p>
            <a:pPr indent="0" marL="0">
              <a:buNone/>
            </a:pPr>
            <a:r>
              <a:rPr lang="en-US" sz="1600" dirty="0">
                <a:solidFill>
                  <a:srgbClr val="55555B"/>
                </a:solidFill>
              </a:rPr>
              <a:t>Shown live from the website during the talk (health is checked through the gateway every few seconds).</a:t>
            </a:r>
            <a:endParaRPr lang="en-US" sz="1600" dirty="0"/>
          </a:p>
        </p:txBody>
      </p:sp>
      <p:sp>
        <p:nvSpPr>
          <p:cNvPr id="6" name="Shape 3"/>
          <p:cNvSpPr/>
          <p:nvPr/>
        </p:nvSpPr>
        <p:spPr>
          <a:xfrm>
            <a:off x="548640" y="2194560"/>
            <a:ext cx="3514344" cy="731520"/>
          </a:xfrm>
          <a:prstGeom prst="roundRect">
            <a:avLst>
              <a:gd name="adj" fmla="val 12500"/>
            </a:avLst>
          </a:prstGeom>
          <a:solidFill>
            <a:srgbClr val="FFFFFF"/>
          </a:solidFill>
          <a:ln w="9525">
            <a:solidFill>
              <a:srgbClr val="D9D9DE"/>
            </a:solidFill>
            <a:prstDash val="solid"/>
          </a:ln>
        </p:spPr>
      </p:sp>
      <p:sp>
        <p:nvSpPr>
          <p:cNvPr id="7" name="Shape 4"/>
          <p:cNvSpPr/>
          <p:nvPr/>
        </p:nvSpPr>
        <p:spPr>
          <a:xfrm>
            <a:off x="777240" y="2441448"/>
            <a:ext cx="237744" cy="237744"/>
          </a:xfrm>
          <a:prstGeom prst="ellipse">
            <a:avLst/>
          </a:prstGeom>
          <a:solidFill>
            <a:srgbClr val="1E9E6A"/>
          </a:solidFill>
          <a:ln w="12700">
            <a:solidFill>
              <a:srgbClr val="1E9E6A"/>
            </a:solidFill>
            <a:prstDash val="solid"/>
          </a:ln>
        </p:spPr>
      </p:sp>
      <p:sp>
        <p:nvSpPr>
          <p:cNvPr id="8" name="Text 5"/>
          <p:cNvSpPr txBox="1"/>
          <p:nvPr/>
        </p:nvSpPr>
        <p:spPr>
          <a:xfrm>
            <a:off x="1188720" y="2194560"/>
            <a:ext cx="1685544" cy="731520"/>
          </a:xfrm>
          <a:prstGeom prst="rect">
            <a:avLst/>
          </a:prstGeom>
          <a:noFill/>
          <a:ln/>
        </p:spPr>
        <p:txBody>
          <a:bodyPr wrap="square" lIns="0" tIns="0" rIns="0" bIns="0" rtlCol="0" anchor="ctr"/>
          <a:lstStyle/>
          <a:p>
            <a:pPr indent="0" marL="0">
              <a:buNone/>
            </a:pPr>
            <a:r>
              <a:rPr lang="en-US" sz="1800" dirty="0">
                <a:solidFill>
                  <a:srgbClr val="1D1D1F"/>
                </a:solidFill>
              </a:rPr>
              <a:t>Gateway</a:t>
            </a:r>
            <a:endParaRPr lang="en-US" sz="1800" dirty="0"/>
          </a:p>
        </p:txBody>
      </p:sp>
      <p:sp>
        <p:nvSpPr>
          <p:cNvPr id="9" name="Text 6"/>
          <p:cNvSpPr txBox="1"/>
          <p:nvPr/>
        </p:nvSpPr>
        <p:spPr>
          <a:xfrm>
            <a:off x="2874264" y="219456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10" name="Shape 7"/>
          <p:cNvSpPr/>
          <p:nvPr/>
        </p:nvSpPr>
        <p:spPr>
          <a:xfrm>
            <a:off x="4337304" y="2194560"/>
            <a:ext cx="3514344" cy="731520"/>
          </a:xfrm>
          <a:prstGeom prst="roundRect">
            <a:avLst>
              <a:gd name="adj" fmla="val 12500"/>
            </a:avLst>
          </a:prstGeom>
          <a:solidFill>
            <a:srgbClr val="FFFFFF"/>
          </a:solidFill>
          <a:ln w="9525">
            <a:solidFill>
              <a:srgbClr val="D9D9DE"/>
            </a:solidFill>
            <a:prstDash val="solid"/>
          </a:ln>
        </p:spPr>
      </p:sp>
      <p:sp>
        <p:nvSpPr>
          <p:cNvPr id="11" name="Shape 8"/>
          <p:cNvSpPr/>
          <p:nvPr/>
        </p:nvSpPr>
        <p:spPr>
          <a:xfrm>
            <a:off x="4565904" y="2441448"/>
            <a:ext cx="237744" cy="237744"/>
          </a:xfrm>
          <a:prstGeom prst="ellipse">
            <a:avLst/>
          </a:prstGeom>
          <a:solidFill>
            <a:srgbClr val="1E9E6A"/>
          </a:solidFill>
          <a:ln w="12700">
            <a:solidFill>
              <a:srgbClr val="1E9E6A"/>
            </a:solidFill>
            <a:prstDash val="solid"/>
          </a:ln>
        </p:spPr>
      </p:sp>
      <p:sp>
        <p:nvSpPr>
          <p:cNvPr id="12" name="Text 9"/>
          <p:cNvSpPr txBox="1"/>
          <p:nvPr/>
        </p:nvSpPr>
        <p:spPr>
          <a:xfrm>
            <a:off x="4977384" y="2194560"/>
            <a:ext cx="1685544" cy="731520"/>
          </a:xfrm>
          <a:prstGeom prst="rect">
            <a:avLst/>
          </a:prstGeom>
          <a:noFill/>
          <a:ln/>
        </p:spPr>
        <p:txBody>
          <a:bodyPr wrap="square" lIns="0" tIns="0" rIns="0" bIns="0" rtlCol="0" anchor="ctr"/>
          <a:lstStyle/>
          <a:p>
            <a:pPr indent="0" marL="0">
              <a:buNone/>
            </a:pPr>
            <a:r>
              <a:rPr lang="en-US" sz="1800" dirty="0">
                <a:solidFill>
                  <a:srgbClr val="1D1D1F"/>
                </a:solidFill>
              </a:rPr>
              <a:t>Ingest</a:t>
            </a:r>
            <a:endParaRPr lang="en-US" sz="1800" dirty="0"/>
          </a:p>
        </p:txBody>
      </p:sp>
      <p:sp>
        <p:nvSpPr>
          <p:cNvPr id="13" name="Text 10"/>
          <p:cNvSpPr txBox="1"/>
          <p:nvPr/>
        </p:nvSpPr>
        <p:spPr>
          <a:xfrm>
            <a:off x="6662928" y="219456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14" name="Shape 11"/>
          <p:cNvSpPr/>
          <p:nvPr/>
        </p:nvSpPr>
        <p:spPr>
          <a:xfrm>
            <a:off x="8125968" y="2194560"/>
            <a:ext cx="3514344" cy="731520"/>
          </a:xfrm>
          <a:prstGeom prst="roundRect">
            <a:avLst>
              <a:gd name="adj" fmla="val 12500"/>
            </a:avLst>
          </a:prstGeom>
          <a:solidFill>
            <a:srgbClr val="FFFFFF"/>
          </a:solidFill>
          <a:ln w="9525">
            <a:solidFill>
              <a:srgbClr val="D9D9DE"/>
            </a:solidFill>
            <a:prstDash val="solid"/>
          </a:ln>
        </p:spPr>
      </p:sp>
      <p:sp>
        <p:nvSpPr>
          <p:cNvPr id="15" name="Shape 12"/>
          <p:cNvSpPr/>
          <p:nvPr/>
        </p:nvSpPr>
        <p:spPr>
          <a:xfrm>
            <a:off x="8354568" y="2441448"/>
            <a:ext cx="237744" cy="237744"/>
          </a:xfrm>
          <a:prstGeom prst="ellipse">
            <a:avLst/>
          </a:prstGeom>
          <a:solidFill>
            <a:srgbClr val="1E9E6A"/>
          </a:solidFill>
          <a:ln w="12700">
            <a:solidFill>
              <a:srgbClr val="1E9E6A"/>
            </a:solidFill>
            <a:prstDash val="solid"/>
          </a:ln>
        </p:spPr>
      </p:sp>
      <p:sp>
        <p:nvSpPr>
          <p:cNvPr id="16" name="Text 13"/>
          <p:cNvSpPr txBox="1"/>
          <p:nvPr/>
        </p:nvSpPr>
        <p:spPr>
          <a:xfrm>
            <a:off x="8766048" y="2194560"/>
            <a:ext cx="1685544" cy="731520"/>
          </a:xfrm>
          <a:prstGeom prst="rect">
            <a:avLst/>
          </a:prstGeom>
          <a:noFill/>
          <a:ln/>
        </p:spPr>
        <p:txBody>
          <a:bodyPr wrap="square" lIns="0" tIns="0" rIns="0" bIns="0" rtlCol="0" anchor="ctr"/>
          <a:lstStyle/>
          <a:p>
            <a:pPr indent="0" marL="0">
              <a:buNone/>
            </a:pPr>
            <a:r>
              <a:rPr lang="en-US" sz="1800" dirty="0">
                <a:solidFill>
                  <a:srgbClr val="1D1D1F"/>
                </a:solidFill>
              </a:rPr>
              <a:t>Rag</a:t>
            </a:r>
            <a:endParaRPr lang="en-US" sz="1800" dirty="0"/>
          </a:p>
        </p:txBody>
      </p:sp>
      <p:sp>
        <p:nvSpPr>
          <p:cNvPr id="17" name="Text 14"/>
          <p:cNvSpPr txBox="1"/>
          <p:nvPr/>
        </p:nvSpPr>
        <p:spPr>
          <a:xfrm>
            <a:off x="10451592" y="219456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18" name="Shape 15"/>
          <p:cNvSpPr/>
          <p:nvPr/>
        </p:nvSpPr>
        <p:spPr>
          <a:xfrm>
            <a:off x="548640" y="3154680"/>
            <a:ext cx="3514344" cy="731520"/>
          </a:xfrm>
          <a:prstGeom prst="roundRect">
            <a:avLst>
              <a:gd name="adj" fmla="val 12500"/>
            </a:avLst>
          </a:prstGeom>
          <a:solidFill>
            <a:srgbClr val="FFFFFF"/>
          </a:solidFill>
          <a:ln w="9525">
            <a:solidFill>
              <a:srgbClr val="D9D9DE"/>
            </a:solidFill>
            <a:prstDash val="solid"/>
          </a:ln>
        </p:spPr>
      </p:sp>
      <p:sp>
        <p:nvSpPr>
          <p:cNvPr id="19" name="Shape 16"/>
          <p:cNvSpPr/>
          <p:nvPr/>
        </p:nvSpPr>
        <p:spPr>
          <a:xfrm>
            <a:off x="777240" y="3401568"/>
            <a:ext cx="237744" cy="237744"/>
          </a:xfrm>
          <a:prstGeom prst="ellipse">
            <a:avLst/>
          </a:prstGeom>
          <a:solidFill>
            <a:srgbClr val="1E9E6A"/>
          </a:solidFill>
          <a:ln w="12700">
            <a:solidFill>
              <a:srgbClr val="1E9E6A"/>
            </a:solidFill>
            <a:prstDash val="solid"/>
          </a:ln>
        </p:spPr>
      </p:sp>
      <p:sp>
        <p:nvSpPr>
          <p:cNvPr id="20" name="Text 17"/>
          <p:cNvSpPr txBox="1"/>
          <p:nvPr/>
        </p:nvSpPr>
        <p:spPr>
          <a:xfrm>
            <a:off x="1188720" y="3154680"/>
            <a:ext cx="1685544" cy="731520"/>
          </a:xfrm>
          <a:prstGeom prst="rect">
            <a:avLst/>
          </a:prstGeom>
          <a:noFill/>
          <a:ln/>
        </p:spPr>
        <p:txBody>
          <a:bodyPr wrap="square" lIns="0" tIns="0" rIns="0" bIns="0" rtlCol="0" anchor="ctr"/>
          <a:lstStyle/>
          <a:p>
            <a:pPr indent="0" marL="0">
              <a:buNone/>
            </a:pPr>
            <a:r>
              <a:rPr lang="en-US" sz="1800" dirty="0">
                <a:solidFill>
                  <a:srgbClr val="1D1D1F"/>
                </a:solidFill>
              </a:rPr>
              <a:t>Llm</a:t>
            </a:r>
            <a:endParaRPr lang="en-US" sz="1800" dirty="0"/>
          </a:p>
        </p:txBody>
      </p:sp>
      <p:sp>
        <p:nvSpPr>
          <p:cNvPr id="21" name="Text 18"/>
          <p:cNvSpPr txBox="1"/>
          <p:nvPr/>
        </p:nvSpPr>
        <p:spPr>
          <a:xfrm>
            <a:off x="2874264" y="315468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22" name="Shape 19"/>
          <p:cNvSpPr/>
          <p:nvPr/>
        </p:nvSpPr>
        <p:spPr>
          <a:xfrm>
            <a:off x="4337304" y="3154680"/>
            <a:ext cx="3514344" cy="731520"/>
          </a:xfrm>
          <a:prstGeom prst="roundRect">
            <a:avLst>
              <a:gd name="adj" fmla="val 12500"/>
            </a:avLst>
          </a:prstGeom>
          <a:solidFill>
            <a:srgbClr val="FFFFFF"/>
          </a:solidFill>
          <a:ln w="9525">
            <a:solidFill>
              <a:srgbClr val="D9D9DE"/>
            </a:solidFill>
            <a:prstDash val="solid"/>
          </a:ln>
        </p:spPr>
      </p:sp>
      <p:sp>
        <p:nvSpPr>
          <p:cNvPr id="23" name="Shape 20"/>
          <p:cNvSpPr/>
          <p:nvPr/>
        </p:nvSpPr>
        <p:spPr>
          <a:xfrm>
            <a:off x="4565904" y="3401568"/>
            <a:ext cx="237744" cy="237744"/>
          </a:xfrm>
          <a:prstGeom prst="ellipse">
            <a:avLst/>
          </a:prstGeom>
          <a:solidFill>
            <a:srgbClr val="1E9E6A"/>
          </a:solidFill>
          <a:ln w="12700">
            <a:solidFill>
              <a:srgbClr val="1E9E6A"/>
            </a:solidFill>
            <a:prstDash val="solid"/>
          </a:ln>
        </p:spPr>
      </p:sp>
      <p:sp>
        <p:nvSpPr>
          <p:cNvPr id="24" name="Text 21"/>
          <p:cNvSpPr txBox="1"/>
          <p:nvPr/>
        </p:nvSpPr>
        <p:spPr>
          <a:xfrm>
            <a:off x="4977384" y="3154680"/>
            <a:ext cx="1685544" cy="731520"/>
          </a:xfrm>
          <a:prstGeom prst="rect">
            <a:avLst/>
          </a:prstGeom>
          <a:noFill/>
          <a:ln/>
        </p:spPr>
        <p:txBody>
          <a:bodyPr wrap="square" lIns="0" tIns="0" rIns="0" bIns="0" rtlCol="0" anchor="ctr"/>
          <a:lstStyle/>
          <a:p>
            <a:pPr indent="0" marL="0">
              <a:buNone/>
            </a:pPr>
            <a:r>
              <a:rPr lang="en-US" sz="1800" dirty="0">
                <a:solidFill>
                  <a:srgbClr val="1D1D1F"/>
                </a:solidFill>
              </a:rPr>
              <a:t>Orchestrator</a:t>
            </a:r>
            <a:endParaRPr lang="en-US" sz="1800" dirty="0"/>
          </a:p>
        </p:txBody>
      </p:sp>
      <p:sp>
        <p:nvSpPr>
          <p:cNvPr id="25" name="Text 22"/>
          <p:cNvSpPr txBox="1"/>
          <p:nvPr/>
        </p:nvSpPr>
        <p:spPr>
          <a:xfrm>
            <a:off x="6662928" y="315468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26" name="Shape 23"/>
          <p:cNvSpPr/>
          <p:nvPr/>
        </p:nvSpPr>
        <p:spPr>
          <a:xfrm>
            <a:off x="8125968" y="3154680"/>
            <a:ext cx="3514344" cy="731520"/>
          </a:xfrm>
          <a:prstGeom prst="roundRect">
            <a:avLst>
              <a:gd name="adj" fmla="val 12500"/>
            </a:avLst>
          </a:prstGeom>
          <a:solidFill>
            <a:srgbClr val="FFFFFF"/>
          </a:solidFill>
          <a:ln w="9525">
            <a:solidFill>
              <a:srgbClr val="D9D9DE"/>
            </a:solidFill>
            <a:prstDash val="solid"/>
          </a:ln>
        </p:spPr>
      </p:sp>
      <p:sp>
        <p:nvSpPr>
          <p:cNvPr id="27" name="Shape 24"/>
          <p:cNvSpPr/>
          <p:nvPr/>
        </p:nvSpPr>
        <p:spPr>
          <a:xfrm>
            <a:off x="8354568" y="3401568"/>
            <a:ext cx="237744" cy="237744"/>
          </a:xfrm>
          <a:prstGeom prst="ellipse">
            <a:avLst/>
          </a:prstGeom>
          <a:solidFill>
            <a:srgbClr val="1E9E6A"/>
          </a:solidFill>
          <a:ln w="12700">
            <a:solidFill>
              <a:srgbClr val="1E9E6A"/>
            </a:solidFill>
            <a:prstDash val="solid"/>
          </a:ln>
        </p:spPr>
      </p:sp>
      <p:sp>
        <p:nvSpPr>
          <p:cNvPr id="28" name="Text 25"/>
          <p:cNvSpPr txBox="1"/>
          <p:nvPr/>
        </p:nvSpPr>
        <p:spPr>
          <a:xfrm>
            <a:off x="8766048" y="3154680"/>
            <a:ext cx="1685544" cy="731520"/>
          </a:xfrm>
          <a:prstGeom prst="rect">
            <a:avLst/>
          </a:prstGeom>
          <a:noFill/>
          <a:ln/>
        </p:spPr>
        <p:txBody>
          <a:bodyPr wrap="square" lIns="0" tIns="0" rIns="0" bIns="0" rtlCol="0" anchor="ctr"/>
          <a:lstStyle/>
          <a:p>
            <a:pPr indent="0" marL="0">
              <a:buNone/>
            </a:pPr>
            <a:r>
              <a:rPr lang="en-US" sz="1800" dirty="0">
                <a:solidFill>
                  <a:srgbClr val="1D1D1F"/>
                </a:solidFill>
              </a:rPr>
              <a:t>Eval</a:t>
            </a:r>
            <a:endParaRPr lang="en-US" sz="1800" dirty="0"/>
          </a:p>
        </p:txBody>
      </p:sp>
      <p:sp>
        <p:nvSpPr>
          <p:cNvPr id="29" name="Text 26"/>
          <p:cNvSpPr txBox="1"/>
          <p:nvPr/>
        </p:nvSpPr>
        <p:spPr>
          <a:xfrm>
            <a:off x="10451592" y="3154680"/>
            <a:ext cx="1005840" cy="731520"/>
          </a:xfrm>
          <a:prstGeom prst="rect">
            <a:avLst/>
          </a:prstGeom>
          <a:noFill/>
          <a:ln/>
        </p:spPr>
        <p:txBody>
          <a:bodyPr wrap="square" lIns="0" tIns="0" rIns="0" bIns="0" rtlCol="0" anchor="ctr"/>
          <a:lstStyle/>
          <a:p>
            <a:pPr algn="r" indent="0" marL="0">
              <a:buNone/>
            </a:pPr>
            <a:r>
              <a:rPr lang="en-US" sz="1300" dirty="0">
                <a:solidFill>
                  <a:srgbClr val="55555B"/>
                </a:solidFill>
              </a:rPr>
              <a:t>healthy</a:t>
            </a:r>
            <a:endParaRPr lang="en-US" sz="1300" dirty="0"/>
          </a:p>
        </p:txBody>
      </p:sp>
      <p:sp>
        <p:nvSpPr>
          <p:cNvPr id="30" name="Shape 27"/>
          <p:cNvSpPr/>
          <p:nvPr/>
        </p:nvSpPr>
        <p:spPr>
          <a:xfrm>
            <a:off x="548640" y="4160520"/>
            <a:ext cx="11091672" cy="2011680"/>
          </a:xfrm>
          <a:prstGeom prst="roundRect">
            <a:avLst>
              <a:gd name="adj" fmla="val 4545"/>
            </a:avLst>
          </a:prstGeom>
          <a:solidFill>
            <a:srgbClr val="FFFFFF"/>
          </a:solidFill>
          <a:ln w="9525">
            <a:solidFill>
              <a:srgbClr val="D9D9DE"/>
            </a:solidFill>
            <a:prstDash val="solid"/>
          </a:ln>
          <a:effectLst>
            <a:outerShdw sx="100000" sy="100000" kx="0" ky="0" algn="bl" rotWithShape="0" blurRad="76200" dist="12700" dir="5400000">
              <a:srgbClr val="000000">
                <a:alpha val="8000"/>
              </a:srgbClr>
            </a:outerShdw>
          </a:effectLst>
        </p:spPr>
      </p:sp>
      <p:sp>
        <p:nvSpPr>
          <p:cNvPr id="31" name="Text 28"/>
          <p:cNvSpPr txBox="1"/>
          <p:nvPr/>
        </p:nvSpPr>
        <p:spPr>
          <a:xfrm>
            <a:off x="731520" y="4297680"/>
            <a:ext cx="10725912" cy="411480"/>
          </a:xfrm>
          <a:prstGeom prst="rect">
            <a:avLst/>
          </a:prstGeom>
          <a:noFill/>
          <a:ln/>
        </p:spPr>
        <p:txBody>
          <a:bodyPr wrap="square" lIns="0" tIns="0" rIns="0" bIns="0" rtlCol="0" anchor="t"/>
          <a:lstStyle/>
          <a:p>
            <a:pPr indent="0" marL="0">
              <a:buNone/>
            </a:pPr>
            <a:r>
              <a:rPr lang="en-US" sz="1800" b="1" dirty="0">
                <a:solidFill>
                  <a:srgbClr val="1D1D1F"/>
                </a:solidFill>
              </a:rPr>
              <a:t>What to demo</a:t>
            </a:r>
            <a:endParaRPr lang="en-US" sz="1800" dirty="0"/>
          </a:p>
        </p:txBody>
      </p:sp>
      <p:sp>
        <p:nvSpPr>
          <p:cNvPr id="32" name="Text 29"/>
          <p:cNvSpPr txBox="1"/>
          <p:nvPr/>
        </p:nvSpPr>
        <p:spPr>
          <a:xfrm>
            <a:off x="731520" y="4709160"/>
            <a:ext cx="10725912" cy="1353312"/>
          </a:xfrm>
          <a:prstGeom prst="rect">
            <a:avLst/>
          </a:prstGeom>
          <a:noFill/>
          <a:ln/>
        </p:spPr>
        <p:txBody>
          <a:bodyPr wrap="square" lIns="0" tIns="0" rIns="0" bIns="0" rtlCol="0" anchor="t"/>
          <a:lstStyle/>
          <a:p>
            <a:pPr indent="0" marL="0">
              <a:buNone/>
            </a:pPr>
            <a:r>
              <a:rPr lang="en-US" sz="1500" dirty="0">
                <a:solidFill>
                  <a:srgbClr val="1D1D1F"/>
                </a:solidFill>
              </a:rPr>
              <a:t>Ask: "Why does itsdangerous keep SHA-1 as its default digest?" and show the cited answer and the evidence chain.</a:t>
            </a:r>
            <a:endParaRPr lang="en-US" sz="1500" dirty="0"/>
          </a:p>
          <a:p>
            <a:pPr indent="0" marL="0">
              <a:buNone/>
            </a:pPr>
            <a:r>
              <a:rPr lang="en-US" sz="1500" dirty="0">
                <a:solidFill>
                  <a:srgbClr val="1D1D1F"/>
                </a:solidFill>
              </a:rPr>
              <a:t>Evaluation page: the held-out run, per-mode leaderboard, and which model is best for what.</a:t>
            </a:r>
            <a:endParaRPr lang="en-US" sz="1500" dirty="0"/>
          </a:p>
          <a:p>
            <a:pPr indent="0" marL="0">
              <a:buNone/>
            </a:pPr>
            <a:r>
              <a:rPr lang="en-US" sz="1500" dirty="0">
                <a:solidFill>
                  <a:srgbClr val="1D1D1F"/>
                </a:solidFill>
              </a:rPr>
              <a:t>Repositories page: the three indexed repositories (demo, itsdangerous, Nexus).</a:t>
            </a:r>
            <a:endParaRPr lang="en-US" sz="15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194560"/>
            <a:ext cx="11091672" cy="1188720"/>
          </a:xfrm>
          <a:prstGeom prst="rect">
            <a:avLst/>
          </a:prstGeom>
          <a:noFill/>
          <a:ln/>
        </p:spPr>
        <p:txBody>
          <a:bodyPr wrap="square" lIns="0" tIns="0" rIns="0" bIns="0" rtlCol="0" anchor="ctr"/>
          <a:lstStyle/>
          <a:p>
            <a:pPr indent="0" marL="0">
              <a:buNone/>
            </a:pPr>
            <a:r>
              <a:rPr lang="en-US" sz="6400" b="1" dirty="0">
                <a:solidFill>
                  <a:srgbClr val="1D1D1F"/>
                </a:solidFill>
              </a:rPr>
              <a:t>Questions?</a:t>
            </a:r>
            <a:endParaRPr lang="en-US" sz="6400" dirty="0"/>
          </a:p>
        </p:txBody>
      </p:sp>
      <p:sp>
        <p:nvSpPr>
          <p:cNvPr id="3" name="Text 1"/>
          <p:cNvSpPr txBox="1"/>
          <p:nvPr/>
        </p:nvSpPr>
        <p:spPr>
          <a:xfrm>
            <a:off x="548640" y="3566160"/>
            <a:ext cx="11091672" cy="457200"/>
          </a:xfrm>
          <a:prstGeom prst="rect">
            <a:avLst/>
          </a:prstGeom>
          <a:noFill/>
          <a:ln/>
        </p:spPr>
        <p:txBody>
          <a:bodyPr wrap="square" lIns="0" tIns="0" rIns="0" bIns="0" rtlCol="0" anchor="ctr"/>
          <a:lstStyle/>
          <a:p>
            <a:pPr indent="0" marL="0">
              <a:buNone/>
            </a:pPr>
            <a:r>
              <a:rPr lang="en-US" sz="2200" dirty="0">
                <a:solidFill>
                  <a:srgbClr val="55555B"/>
                </a:solidFill>
              </a:rPr>
              <a:t>github.com/IATESPAGHETTI/Code_Origin</a:t>
            </a:r>
            <a:endParaRPr lang="en-US" sz="2200" dirty="0"/>
          </a:p>
        </p:txBody>
      </p:sp>
      <p:sp>
        <p:nvSpPr>
          <p:cNvPr id="4" name="Text 2"/>
          <p:cNvSpPr txBox="1"/>
          <p:nvPr/>
        </p:nvSpPr>
        <p:spPr>
          <a:xfrm>
            <a:off x="548640" y="4297680"/>
            <a:ext cx="11091672" cy="457200"/>
          </a:xfrm>
          <a:prstGeom prst="rect">
            <a:avLst/>
          </a:prstGeom>
          <a:noFill/>
          <a:ln/>
        </p:spPr>
        <p:txBody>
          <a:bodyPr wrap="square" lIns="0" tIns="0" rIns="0" bIns="0" rtlCol="0" anchor="ctr"/>
          <a:lstStyle/>
          <a:p>
            <a:pPr indent="0" marL="0">
              <a:buNone/>
            </a:pPr>
            <a:r>
              <a:rPr lang="en-US" sz="1800" dirty="0">
                <a:solidFill>
                  <a:srgbClr val="0071E3"/>
                </a:solidFill>
              </a:rPr>
              <a:t>We claim: supported on one real repository for 7B models, not yet general.</a:t>
            </a:r>
            <a:endParaRPr lang="en-US" sz="18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555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CodeOrigin: does repository history improve LLM answers?</dc:title>
  <dc:subject>PptxGenJS Presentation</dc:subject>
  <dc:creator>CodeOrigin project</dc:creator>
  <cp:lastModifiedBy>CodeOrigin project</cp:lastModifiedBy>
  <cp:revision>1</cp:revision>
  <dcterms:created xsi:type="dcterms:W3CDTF">2026-10-06T17:40:01Z</dcterms:created>
  <dcterms:modified xsi:type="dcterms:W3CDTF">2026-10-06T17:40:01Z</dcterms:modified>
</cp:coreProperties>
</file>